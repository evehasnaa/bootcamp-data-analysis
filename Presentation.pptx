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15" r:id="rId30"/>
    <p:sldId id="284" r:id="rId31"/>
    <p:sldId id="285" r:id="rId32"/>
    <p:sldId id="289" r:id="rId33"/>
    <p:sldId id="290" r:id="rId34"/>
    <p:sldId id="291" r:id="rId35"/>
    <p:sldId id="286" r:id="rId36"/>
    <p:sldId id="287" r:id="rId37"/>
    <p:sldId id="288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14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7" r:id="rId62"/>
    <p:sldId id="318" r:id="rId63"/>
    <p:sldId id="316" r:id="rId64"/>
  </p:sldIdLst>
  <p:sldSz cx="18288000" cy="10287000"/>
  <p:notesSz cx="6858000" cy="9144000"/>
  <p:embeddedFontLst>
    <p:embeddedFont>
      <p:font typeface="Arimo" panose="020B0604020202020204" charset="0"/>
      <p:regular r:id="rId66"/>
    </p:embeddedFont>
    <p:embeddedFont>
      <p:font typeface="Arimo Bold" panose="020B0604020202020204" charset="0"/>
      <p:regular r:id="rId6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78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89925-77CD-20A5-8A4D-15C49D91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FF30E8-DE47-EE07-AC41-8540D5A041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4174D8-206D-7F71-D74B-44177F93F4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9A1A240-C165-548A-8DAE-99809DD71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DBA042-744E-4450-3738-CEB82F76C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1AEDB-0C86-CE4A-D554-4FA0710CF2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0111C-6C67-C337-C68E-9986348B4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826319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4B17-F0A6-A861-B9C9-E068D6AF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69BB73-FC17-1D22-4BD4-838E182278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1406D-3DA0-B380-16FB-F1DE7BA41B3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8FDA02-B245-8F14-D98E-D8B33311E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E1E83BB-7E55-2C56-456B-FECEDD4A0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E6FBB-291D-32A7-6E41-144BABBADE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A221D-776E-6EA4-1ACA-1A835488F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455073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CBC1-CF23-03E8-4B4F-0D367B5D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727E81-56F5-2630-991D-C3C5E466FA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EC255-F238-0C95-64F8-10B9FD0E93C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F833DA5-DB77-D0F9-917E-C358BEFAFA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E74EB36-7076-E985-FBF9-8FCA4E0B2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75FC0-95C7-917C-AB4D-274CFF2638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3E81-49C1-FEAA-9227-A7A88758B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1159490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F18D-DA41-F194-66E5-1DA24B907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62CFAA-2390-AF30-D976-133E7467F3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03F498-9540-2972-240E-2E8B90A4A8F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38A73D0-B977-6B1B-06F9-0633F69F7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205CCA7-A981-6BE4-0F17-068E762B87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3D31E-1134-8F99-CDBD-E7244064CE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53CC0-304B-F660-EE64-113DE3E15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9591589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D106-BEE3-B5E8-A188-B55FCA15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54BBD6-7F97-2BF5-7E34-2E42B408ED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FE1A54-1906-CEE2-B801-0157D09AA4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13C865E-DBF3-214D-44DE-AC3BAF224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AECA53-EE2F-1C36-DC21-A70B6AF38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1609F-3507-CDDD-F9CC-25E1B26F24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7F514-8AC2-4F28-0CE2-CFC3F3E65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95531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openxmlformats.org/officeDocument/2006/relationships/image" Target="../media/image2.svg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0.xml"/><Relationship Id="rId9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6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7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2698" y="574348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 rot="-1563061">
            <a:off x="12560077" y="6270871"/>
            <a:ext cx="8602944" cy="5418028"/>
            <a:chOff x="0" y="0"/>
            <a:chExt cx="11470592" cy="72240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70640" cy="7224014"/>
            </a:xfrm>
            <a:custGeom>
              <a:avLst/>
              <a:gdLst/>
              <a:ahLst/>
              <a:cxnLst/>
              <a:rect l="l" t="t" r="r" b="b"/>
              <a:pathLst>
                <a:path w="11470640" h="7224014">
                  <a:moveTo>
                    <a:pt x="0" y="3612007"/>
                  </a:moveTo>
                  <a:cubicBezTo>
                    <a:pt x="0" y="1612392"/>
                    <a:pt x="2573655" y="0"/>
                    <a:pt x="5735320" y="0"/>
                  </a:cubicBezTo>
                  <a:cubicBezTo>
                    <a:pt x="8896986" y="0"/>
                    <a:pt x="11470640" y="1612392"/>
                    <a:pt x="11470640" y="3612007"/>
                  </a:cubicBezTo>
                  <a:lnTo>
                    <a:pt x="11457940" y="3612007"/>
                  </a:lnTo>
                  <a:lnTo>
                    <a:pt x="11470640" y="3612007"/>
                  </a:lnTo>
                  <a:cubicBezTo>
                    <a:pt x="11470640" y="5611622"/>
                    <a:pt x="8896986" y="7224014"/>
                    <a:pt x="5735320" y="7224014"/>
                  </a:cubicBezTo>
                  <a:lnTo>
                    <a:pt x="5735320" y="7211314"/>
                  </a:lnTo>
                  <a:lnTo>
                    <a:pt x="5735320" y="7224014"/>
                  </a:lnTo>
                  <a:cubicBezTo>
                    <a:pt x="2573655" y="7224014"/>
                    <a:pt x="0" y="5611622"/>
                    <a:pt x="0" y="3612007"/>
                  </a:cubicBezTo>
                  <a:lnTo>
                    <a:pt x="12700" y="3612007"/>
                  </a:lnTo>
                  <a:lnTo>
                    <a:pt x="25400" y="3612007"/>
                  </a:lnTo>
                  <a:lnTo>
                    <a:pt x="12700" y="3612007"/>
                  </a:lnTo>
                  <a:lnTo>
                    <a:pt x="0" y="3612007"/>
                  </a:lnTo>
                  <a:moveTo>
                    <a:pt x="25400" y="3612007"/>
                  </a:moveTo>
                  <a:cubicBezTo>
                    <a:pt x="25400" y="3618992"/>
                    <a:pt x="19685" y="3624707"/>
                    <a:pt x="12700" y="3624707"/>
                  </a:cubicBezTo>
                  <a:cubicBezTo>
                    <a:pt x="5715" y="3624707"/>
                    <a:pt x="0" y="3618992"/>
                    <a:pt x="0" y="3612007"/>
                  </a:cubicBezTo>
                  <a:cubicBezTo>
                    <a:pt x="0" y="3605022"/>
                    <a:pt x="5715" y="3599307"/>
                    <a:pt x="12700" y="3599307"/>
                  </a:cubicBezTo>
                  <a:cubicBezTo>
                    <a:pt x="19685" y="3599307"/>
                    <a:pt x="25400" y="3605022"/>
                    <a:pt x="25400" y="3612007"/>
                  </a:cubicBezTo>
                  <a:cubicBezTo>
                    <a:pt x="25400" y="5588127"/>
                    <a:pt x="2575941" y="7198614"/>
                    <a:pt x="5735320" y="7198614"/>
                  </a:cubicBezTo>
                  <a:cubicBezTo>
                    <a:pt x="8894699" y="7198614"/>
                    <a:pt x="11445240" y="5588127"/>
                    <a:pt x="11445240" y="3612007"/>
                  </a:cubicBezTo>
                  <a:cubicBezTo>
                    <a:pt x="11445240" y="1635887"/>
                    <a:pt x="8894699" y="25400"/>
                    <a:pt x="5735320" y="25400"/>
                  </a:cubicBezTo>
                  <a:lnTo>
                    <a:pt x="5735320" y="12700"/>
                  </a:lnTo>
                  <a:lnTo>
                    <a:pt x="5735320" y="25400"/>
                  </a:lnTo>
                  <a:cubicBezTo>
                    <a:pt x="2575941" y="25400"/>
                    <a:pt x="25400" y="1635887"/>
                    <a:pt x="25400" y="361200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8805709" y="8375280"/>
            <a:ext cx="676580" cy="567620"/>
          </a:xfrm>
          <a:custGeom>
            <a:avLst/>
            <a:gdLst/>
            <a:ahLst/>
            <a:cxnLst/>
            <a:rect l="l" t="t" r="r" b="b"/>
            <a:pathLst>
              <a:path w="676580" h="567620">
                <a:moveTo>
                  <a:pt x="0" y="0"/>
                </a:moveTo>
                <a:lnTo>
                  <a:pt x="676580" y="0"/>
                </a:lnTo>
                <a:lnTo>
                  <a:pt x="676580" y="567620"/>
                </a:lnTo>
                <a:lnTo>
                  <a:pt x="0" y="5676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99415" y="968727"/>
            <a:ext cx="1694162" cy="1498845"/>
          </a:xfrm>
          <a:custGeom>
            <a:avLst/>
            <a:gdLst/>
            <a:ahLst/>
            <a:cxnLst/>
            <a:rect l="l" t="t" r="r" b="b"/>
            <a:pathLst>
              <a:path w="1694162" h="1498845">
                <a:moveTo>
                  <a:pt x="0" y="0"/>
                </a:moveTo>
                <a:lnTo>
                  <a:pt x="1694162" y="0"/>
                </a:lnTo>
                <a:lnTo>
                  <a:pt x="1694162" y="1498845"/>
                </a:lnTo>
                <a:lnTo>
                  <a:pt x="0" y="14988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993577" y="4341109"/>
            <a:ext cx="12008741" cy="1384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543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 eCommerce Analysis from Raw Data to Business Decisions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09623" y="1045803"/>
            <a:ext cx="479385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>
                <a:solidFill>
                  <a:srgbClr val="AF954D"/>
                </a:solidFill>
                <a:latin typeface="Arimo Bold"/>
                <a:ea typeface="Arimo Bold"/>
                <a:cs typeface="Arimo Bold"/>
                <a:sym typeface="Arimo Bold"/>
              </a:rPr>
              <a:t>Data Analysis Bootcamp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39628" y="6685473"/>
            <a:ext cx="12008741" cy="110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9"/>
              </a:lnSpc>
            </a:pPr>
            <a:r>
              <a:rPr lang="en-US" sz="4530" b="1">
                <a:solidFill>
                  <a:srgbClr val="F5BD22"/>
                </a:solidFill>
                <a:latin typeface="Arimo Bold"/>
                <a:ea typeface="Arimo Bold"/>
                <a:cs typeface="Arimo Bold"/>
                <a:sym typeface="Arimo Bold"/>
              </a:rPr>
              <a:t>By : Team 17</a:t>
            </a:r>
          </a:p>
          <a:p>
            <a:pPr algn="ctr">
              <a:lnSpc>
                <a:spcPts val="4061"/>
              </a:lnSpc>
            </a:pPr>
            <a:r>
              <a:rPr lang="en-US" sz="4230" b="1">
                <a:solidFill>
                  <a:srgbClr val="F5BD22"/>
                </a:solidFill>
                <a:latin typeface="Arimo Bold"/>
                <a:ea typeface="Arimo Bold"/>
                <a:cs typeface="Arimo Bold"/>
                <a:sym typeface="Arimo Bold"/>
              </a:rPr>
              <a:t>Team Leader : Eslam Ashraf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875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606218">
            <a:off x="623857" y="8784567"/>
            <a:ext cx="6743126" cy="4247982"/>
            <a:chOff x="0" y="0"/>
            <a:chExt cx="8990835" cy="56639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838" cy="5663946"/>
            </a:xfrm>
            <a:custGeom>
              <a:avLst/>
              <a:gdLst/>
              <a:ahLst/>
              <a:cxnLst/>
              <a:rect l="l" t="t" r="r" b="b"/>
              <a:pathLst>
                <a:path w="8990838" h="5663946">
                  <a:moveTo>
                    <a:pt x="0" y="2831973"/>
                  </a:moveTo>
                  <a:cubicBezTo>
                    <a:pt x="0" y="1263142"/>
                    <a:pt x="2018538" y="0"/>
                    <a:pt x="4495419" y="0"/>
                  </a:cubicBezTo>
                  <a:cubicBezTo>
                    <a:pt x="6972300" y="0"/>
                    <a:pt x="8990838" y="1263142"/>
                    <a:pt x="8990838" y="2831973"/>
                  </a:cubicBezTo>
                  <a:lnTo>
                    <a:pt x="8978138" y="2831973"/>
                  </a:lnTo>
                  <a:lnTo>
                    <a:pt x="8990838" y="2831973"/>
                  </a:lnTo>
                  <a:cubicBezTo>
                    <a:pt x="8990838" y="4400804"/>
                    <a:pt x="6972300" y="5663946"/>
                    <a:pt x="4495419" y="5663946"/>
                  </a:cubicBezTo>
                  <a:lnTo>
                    <a:pt x="4495419" y="5651246"/>
                  </a:lnTo>
                  <a:lnTo>
                    <a:pt x="4495419" y="5663946"/>
                  </a:lnTo>
                  <a:cubicBezTo>
                    <a:pt x="2018538" y="5663946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824" y="5638546"/>
                    <a:pt x="4495419" y="5638546"/>
                  </a:cubicBezTo>
                  <a:cubicBezTo>
                    <a:pt x="6970014" y="5638546"/>
                    <a:pt x="8965438" y="4377309"/>
                    <a:pt x="8965438" y="2831973"/>
                  </a:cubicBezTo>
                  <a:cubicBezTo>
                    <a:pt x="8965438" y="1286637"/>
                    <a:pt x="6970014" y="25400"/>
                    <a:pt x="4495419" y="25400"/>
                  </a:cubicBezTo>
                  <a:lnTo>
                    <a:pt x="4495419" y="12700"/>
                  </a:lnTo>
                  <a:lnTo>
                    <a:pt x="4495419" y="25400"/>
                  </a:lnTo>
                  <a:cubicBezTo>
                    <a:pt x="2020824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31425" y="1587100"/>
            <a:ext cx="15225150" cy="9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Table of contents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31425" y="3329416"/>
            <a:ext cx="1286550" cy="74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1425" y="6196232"/>
            <a:ext cx="1286550" cy="74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29975" y="3329416"/>
            <a:ext cx="1286550" cy="74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29975" y="6196232"/>
            <a:ext cx="1286550" cy="74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28525" y="3329416"/>
            <a:ext cx="1286550" cy="74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28525" y="6196232"/>
            <a:ext cx="1286550" cy="74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31425" y="4192600"/>
            <a:ext cx="4428150" cy="134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29975" y="4192600"/>
            <a:ext cx="442815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Data Architecture &amp; Source Integration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28525" y="4192600"/>
            <a:ext cx="442815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Data Cleaning &amp; Transformation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31425" y="7059550"/>
            <a:ext cx="4428150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Exploratory Data Analysis (EDA) in SSMS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29975" y="7059550"/>
            <a:ext cx="4428150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Advanced Data Analysis in Power BI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28525" y="7059550"/>
            <a:ext cx="442815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 Dashboard Walkthrough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606218">
            <a:off x="623857" y="8784567"/>
            <a:ext cx="6743126" cy="4247982"/>
            <a:chOff x="0" y="0"/>
            <a:chExt cx="8990835" cy="56639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838" cy="5663946"/>
            </a:xfrm>
            <a:custGeom>
              <a:avLst/>
              <a:gdLst/>
              <a:ahLst/>
              <a:cxnLst/>
              <a:rect l="l" t="t" r="r" b="b"/>
              <a:pathLst>
                <a:path w="8990838" h="5663946">
                  <a:moveTo>
                    <a:pt x="0" y="2831973"/>
                  </a:moveTo>
                  <a:cubicBezTo>
                    <a:pt x="0" y="1263142"/>
                    <a:pt x="2018538" y="0"/>
                    <a:pt x="4495419" y="0"/>
                  </a:cubicBezTo>
                  <a:cubicBezTo>
                    <a:pt x="6972300" y="0"/>
                    <a:pt x="8990838" y="1263142"/>
                    <a:pt x="8990838" y="2831973"/>
                  </a:cubicBezTo>
                  <a:lnTo>
                    <a:pt x="8978138" y="2831973"/>
                  </a:lnTo>
                  <a:lnTo>
                    <a:pt x="8990838" y="2831973"/>
                  </a:lnTo>
                  <a:cubicBezTo>
                    <a:pt x="8990838" y="4400804"/>
                    <a:pt x="6972300" y="5663946"/>
                    <a:pt x="4495419" y="5663946"/>
                  </a:cubicBezTo>
                  <a:lnTo>
                    <a:pt x="4495419" y="5651246"/>
                  </a:lnTo>
                  <a:lnTo>
                    <a:pt x="4495419" y="5663946"/>
                  </a:lnTo>
                  <a:cubicBezTo>
                    <a:pt x="2018538" y="5663946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824" y="5638546"/>
                    <a:pt x="4495419" y="5638546"/>
                  </a:cubicBezTo>
                  <a:cubicBezTo>
                    <a:pt x="6970014" y="5638546"/>
                    <a:pt x="8965438" y="4377309"/>
                    <a:pt x="8965438" y="2831973"/>
                  </a:cubicBezTo>
                  <a:cubicBezTo>
                    <a:pt x="8965438" y="1286637"/>
                    <a:pt x="6970014" y="25400"/>
                    <a:pt x="4495419" y="25400"/>
                  </a:cubicBezTo>
                  <a:lnTo>
                    <a:pt x="4495419" y="12700"/>
                  </a:lnTo>
                  <a:lnTo>
                    <a:pt x="4495419" y="25400"/>
                  </a:lnTo>
                  <a:cubicBezTo>
                    <a:pt x="2020824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31425" y="1587100"/>
            <a:ext cx="15225150" cy="9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Table of contents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55712" y="3127366"/>
            <a:ext cx="12865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07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69500" y="6873812"/>
            <a:ext cx="12865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10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76021" y="3127366"/>
            <a:ext cx="12865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55712" y="6873812"/>
            <a:ext cx="12865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09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90660" y="4192600"/>
            <a:ext cx="442815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Insights &amp; Recommendations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58525" y="4192600"/>
            <a:ext cx="5227473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The Extra Mile: AI-Augmented Analysis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55712" y="8197460"/>
            <a:ext cx="44281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76021" y="8159360"/>
            <a:ext cx="442815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Q&amp;A 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418557" y="3814075"/>
            <a:ext cx="520695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Team Collaboration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31425" y="1587100"/>
            <a:ext cx="15225150" cy="9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18565" y="4617375"/>
            <a:ext cx="5206950" cy="310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Tools used: Notion for task tracking, documentation, and real-time collaboration. o Roles distribution and project timeline.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7875" y="4617375"/>
            <a:ext cx="5206950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Provide data-driven insights to optimize sales, understand customer behavior, and drive eCommerce growth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7875" y="3814075"/>
            <a:ext cx="520695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Objective</a:t>
            </a:r>
          </a:p>
        </p:txBody>
      </p:sp>
      <p:grpSp>
        <p:nvGrpSpPr>
          <p:cNvPr id="14" name="Group 14"/>
          <p:cNvGrpSpPr/>
          <p:nvPr/>
        </p:nvGrpSpPr>
        <p:grpSpPr>
          <a:xfrm rot="6382974">
            <a:off x="13274201" y="3847889"/>
            <a:ext cx="6743266" cy="4247956"/>
            <a:chOff x="0" y="0"/>
            <a:chExt cx="8991021" cy="56639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90965" cy="5663946"/>
            </a:xfrm>
            <a:custGeom>
              <a:avLst/>
              <a:gdLst/>
              <a:ahLst/>
              <a:cxnLst/>
              <a:rect l="l" t="t" r="r" b="b"/>
              <a:pathLst>
                <a:path w="8990965" h="5663946">
                  <a:moveTo>
                    <a:pt x="0" y="2831973"/>
                  </a:moveTo>
                  <a:cubicBezTo>
                    <a:pt x="0" y="1263142"/>
                    <a:pt x="2018665" y="0"/>
                    <a:pt x="4495546" y="0"/>
                  </a:cubicBezTo>
                  <a:cubicBezTo>
                    <a:pt x="6972427" y="0"/>
                    <a:pt x="8990965" y="1263142"/>
                    <a:pt x="8990965" y="2831973"/>
                  </a:cubicBezTo>
                  <a:lnTo>
                    <a:pt x="8978265" y="2831973"/>
                  </a:lnTo>
                  <a:lnTo>
                    <a:pt x="8990965" y="2831973"/>
                  </a:lnTo>
                  <a:cubicBezTo>
                    <a:pt x="8990965" y="4400804"/>
                    <a:pt x="6972300" y="5663946"/>
                    <a:pt x="4495419" y="5663946"/>
                  </a:cubicBezTo>
                  <a:lnTo>
                    <a:pt x="4495419" y="5651246"/>
                  </a:lnTo>
                  <a:lnTo>
                    <a:pt x="4495419" y="5663946"/>
                  </a:lnTo>
                  <a:cubicBezTo>
                    <a:pt x="2018665" y="5663946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824" y="5638546"/>
                    <a:pt x="4495546" y="5638546"/>
                  </a:cubicBezTo>
                  <a:cubicBezTo>
                    <a:pt x="6970268" y="5638546"/>
                    <a:pt x="8965692" y="4377309"/>
                    <a:pt x="8965692" y="2831973"/>
                  </a:cubicBezTo>
                  <a:cubicBezTo>
                    <a:pt x="8965692" y="1286637"/>
                    <a:pt x="6970141" y="25400"/>
                    <a:pt x="4495546" y="25400"/>
                  </a:cubicBezTo>
                  <a:lnTo>
                    <a:pt x="4495546" y="12700"/>
                  </a:lnTo>
                  <a:lnTo>
                    <a:pt x="4495546" y="25400"/>
                  </a:lnTo>
                  <a:cubicBezTo>
                    <a:pt x="2020824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28700" y="1686177"/>
            <a:ext cx="16485211" cy="8371396"/>
          </a:xfrm>
          <a:custGeom>
            <a:avLst/>
            <a:gdLst/>
            <a:ahLst/>
            <a:cxnLst/>
            <a:rect l="l" t="t" r="r" b="b"/>
            <a:pathLst>
              <a:path w="16485211" h="8371396">
                <a:moveTo>
                  <a:pt x="0" y="0"/>
                </a:moveTo>
                <a:lnTo>
                  <a:pt x="16485211" y="0"/>
                </a:lnTo>
                <a:lnTo>
                  <a:pt x="16485211" y="8371396"/>
                </a:lnTo>
                <a:lnTo>
                  <a:pt x="0" y="8371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79351" y="1686177"/>
            <a:ext cx="15679949" cy="7766475"/>
          </a:xfrm>
          <a:custGeom>
            <a:avLst/>
            <a:gdLst/>
            <a:ahLst/>
            <a:cxnLst/>
            <a:rect l="l" t="t" r="r" b="b"/>
            <a:pathLst>
              <a:path w="15679949" h="7766475">
                <a:moveTo>
                  <a:pt x="0" y="0"/>
                </a:moveTo>
                <a:lnTo>
                  <a:pt x="15679949" y="0"/>
                </a:lnTo>
                <a:lnTo>
                  <a:pt x="15679949" y="7766475"/>
                </a:lnTo>
                <a:lnTo>
                  <a:pt x="0" y="77664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31425" y="1587100"/>
            <a:ext cx="152251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Data Architecture &amp; Source Integration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4401" y="4341437"/>
            <a:ext cx="41677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Data Source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76762" y="4341437"/>
            <a:ext cx="41677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Why Azure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6675" y="5708275"/>
            <a:ext cx="5349050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Connected structured datasets stored securely on Microsoft Azure SQL Database.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54173" y="5708275"/>
            <a:ext cx="4690339" cy="175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1"/>
              </a:lnSpc>
            </a:pPr>
            <a:r>
              <a:rPr lang="en-US" sz="3826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Scalability, security, and real-time access for all collaborators. 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863147" y="1943651"/>
            <a:ext cx="8542655" cy="7314649"/>
          </a:xfrm>
          <a:custGeom>
            <a:avLst/>
            <a:gdLst/>
            <a:ahLst/>
            <a:cxnLst/>
            <a:rect l="l" t="t" r="r" b="b"/>
            <a:pathLst>
              <a:path w="8542655" h="7314649">
                <a:moveTo>
                  <a:pt x="0" y="0"/>
                </a:moveTo>
                <a:lnTo>
                  <a:pt x="8542656" y="0"/>
                </a:lnTo>
                <a:lnTo>
                  <a:pt x="8542656" y="7314649"/>
                </a:lnTo>
                <a:lnTo>
                  <a:pt x="0" y="73146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90676" y="1916776"/>
            <a:ext cx="14906647" cy="7341524"/>
          </a:xfrm>
          <a:custGeom>
            <a:avLst/>
            <a:gdLst/>
            <a:ahLst/>
            <a:cxnLst/>
            <a:rect l="l" t="t" r="r" b="b"/>
            <a:pathLst>
              <a:path w="14906647" h="7341524">
                <a:moveTo>
                  <a:pt x="0" y="0"/>
                </a:moveTo>
                <a:lnTo>
                  <a:pt x="14906648" y="0"/>
                </a:lnTo>
                <a:lnTo>
                  <a:pt x="14906648" y="7341524"/>
                </a:lnTo>
                <a:lnTo>
                  <a:pt x="0" y="73415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382130" y="1028700"/>
            <a:ext cx="9504689" cy="8857040"/>
          </a:xfrm>
          <a:custGeom>
            <a:avLst/>
            <a:gdLst/>
            <a:ahLst/>
            <a:cxnLst/>
            <a:rect l="l" t="t" r="r" b="b"/>
            <a:pathLst>
              <a:path w="9504689" h="8857040">
                <a:moveTo>
                  <a:pt x="0" y="0"/>
                </a:moveTo>
                <a:lnTo>
                  <a:pt x="9504690" y="0"/>
                </a:lnTo>
                <a:lnTo>
                  <a:pt x="9504690" y="8857040"/>
                </a:lnTo>
                <a:lnTo>
                  <a:pt x="0" y="88570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31425" y="1587100"/>
            <a:ext cx="152251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 Data Cleaning &amp; Transformation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58165" y="3160138"/>
            <a:ext cx="41677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Tools Used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58165" y="5508692"/>
            <a:ext cx="41677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Steps Performed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31809" y="4066687"/>
            <a:ext cx="1273217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SQL Server Management Studio (SSMS)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58165" y="6596470"/>
            <a:ext cx="11071952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6" lvl="1" indent="-334643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Null &amp; duplicate checks, date/format standardizatio. </a:t>
            </a:r>
          </a:p>
          <a:p>
            <a:pPr marL="669286" lvl="1" indent="-334643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Joining tables, managing discounts, handling outliers.</a:t>
            </a:r>
          </a:p>
          <a:p>
            <a:pPr marL="669286" lvl="1" indent="-334643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Stored procedures and window functions for performance.</a:t>
            </a:r>
          </a:p>
        </p:txBody>
      </p:sp>
    </p:spTree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910944" y="968727"/>
            <a:ext cx="14147793" cy="8541730"/>
          </a:xfrm>
          <a:custGeom>
            <a:avLst/>
            <a:gdLst/>
            <a:ahLst/>
            <a:cxnLst/>
            <a:rect l="l" t="t" r="r" b="b"/>
            <a:pathLst>
              <a:path w="14147793" h="8541730">
                <a:moveTo>
                  <a:pt x="0" y="0"/>
                </a:moveTo>
                <a:lnTo>
                  <a:pt x="14147794" y="0"/>
                </a:lnTo>
                <a:lnTo>
                  <a:pt x="14147794" y="8541730"/>
                </a:lnTo>
                <a:lnTo>
                  <a:pt x="0" y="85417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144401" y="1773212"/>
            <a:ext cx="13609250" cy="7485088"/>
          </a:xfrm>
          <a:custGeom>
            <a:avLst/>
            <a:gdLst/>
            <a:ahLst/>
            <a:cxnLst/>
            <a:rect l="l" t="t" r="r" b="b"/>
            <a:pathLst>
              <a:path w="13609250" h="7485088">
                <a:moveTo>
                  <a:pt x="0" y="0"/>
                </a:moveTo>
                <a:lnTo>
                  <a:pt x="13609250" y="0"/>
                </a:lnTo>
                <a:lnTo>
                  <a:pt x="13609250" y="7485088"/>
                </a:lnTo>
                <a:lnTo>
                  <a:pt x="0" y="74850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144401" y="2727739"/>
            <a:ext cx="13089629" cy="7559261"/>
          </a:xfrm>
          <a:custGeom>
            <a:avLst/>
            <a:gdLst/>
            <a:ahLst/>
            <a:cxnLst/>
            <a:rect l="l" t="t" r="r" b="b"/>
            <a:pathLst>
              <a:path w="13089629" h="7559261">
                <a:moveTo>
                  <a:pt x="0" y="0"/>
                </a:moveTo>
                <a:lnTo>
                  <a:pt x="13089629" y="0"/>
                </a:lnTo>
                <a:lnTo>
                  <a:pt x="13089629" y="7559261"/>
                </a:lnTo>
                <a:lnTo>
                  <a:pt x="0" y="7559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199038" y="1848102"/>
            <a:ext cx="10609233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Cleaning the data : Checking the dublicates</a:t>
            </a:r>
          </a:p>
        </p:txBody>
      </p:sp>
    </p:spTree>
  </p:cSld>
  <p:clrMapOvr>
    <a:masterClrMapping/>
  </p:clrMapOvr>
  <p:transition spd="med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115199" y="1802377"/>
            <a:ext cx="6637424" cy="7905023"/>
          </a:xfrm>
          <a:custGeom>
            <a:avLst/>
            <a:gdLst/>
            <a:ahLst/>
            <a:cxnLst/>
            <a:rect l="l" t="t" r="r" b="b"/>
            <a:pathLst>
              <a:path w="6637424" h="7905023">
                <a:moveTo>
                  <a:pt x="0" y="0"/>
                </a:moveTo>
                <a:lnTo>
                  <a:pt x="6637424" y="0"/>
                </a:lnTo>
                <a:lnTo>
                  <a:pt x="6637424" y="7905023"/>
                </a:lnTo>
                <a:lnTo>
                  <a:pt x="0" y="7905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-1474758" y="1773802"/>
            <a:ext cx="10609233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Checking for nulls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231097" y="3734958"/>
            <a:ext cx="12996947" cy="6254781"/>
          </a:xfrm>
          <a:custGeom>
            <a:avLst/>
            <a:gdLst/>
            <a:ahLst/>
            <a:cxnLst/>
            <a:rect l="l" t="t" r="r" b="b"/>
            <a:pathLst>
              <a:path w="12996947" h="6254781">
                <a:moveTo>
                  <a:pt x="0" y="0"/>
                </a:moveTo>
                <a:lnTo>
                  <a:pt x="12996947" y="0"/>
                </a:lnTo>
                <a:lnTo>
                  <a:pt x="12996947" y="6254780"/>
                </a:lnTo>
                <a:lnTo>
                  <a:pt x="0" y="6254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579351" y="1657602"/>
            <a:ext cx="14099289" cy="302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Dynamic SQL to check all tables in a database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Instead of repeating the same query for each table, we used a dynamic SQL query that scans all tables in the database and reports the number of NULLs per column.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script uses the INFORMATION_SCHEMA.COLUMNS view to automatically build and run the NULL-check query.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43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 spd="med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140913" y="2345302"/>
            <a:ext cx="11399254" cy="7466512"/>
          </a:xfrm>
          <a:custGeom>
            <a:avLst/>
            <a:gdLst/>
            <a:ahLst/>
            <a:cxnLst/>
            <a:rect l="l" t="t" r="r" b="b"/>
            <a:pathLst>
              <a:path w="11399254" h="7466512">
                <a:moveTo>
                  <a:pt x="0" y="0"/>
                </a:moveTo>
                <a:lnTo>
                  <a:pt x="11399255" y="0"/>
                </a:lnTo>
                <a:lnTo>
                  <a:pt x="11399255" y="7466512"/>
                </a:lnTo>
                <a:lnTo>
                  <a:pt x="0" y="74665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-3079317" y="1773802"/>
            <a:ext cx="14099289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Checking for outliers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120661" y="2612002"/>
            <a:ext cx="11001736" cy="6656050"/>
          </a:xfrm>
          <a:custGeom>
            <a:avLst/>
            <a:gdLst/>
            <a:ahLst/>
            <a:cxnLst/>
            <a:rect l="l" t="t" r="r" b="b"/>
            <a:pathLst>
              <a:path w="11001736" h="6656050">
                <a:moveTo>
                  <a:pt x="0" y="0"/>
                </a:moveTo>
                <a:lnTo>
                  <a:pt x="11001736" y="0"/>
                </a:lnTo>
                <a:lnTo>
                  <a:pt x="11001736" y="6656050"/>
                </a:lnTo>
                <a:lnTo>
                  <a:pt x="0" y="6656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-3079317" y="1773802"/>
            <a:ext cx="14099289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Orders Table</a:t>
            </a:r>
          </a:p>
        </p:txBody>
      </p:sp>
    </p:spTree>
  </p:cSld>
  <p:clrMapOvr>
    <a:masterClrMapping/>
  </p:clrMapOvr>
  <p:transition spd="med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372722" y="3452694"/>
            <a:ext cx="7013704" cy="1990586"/>
          </a:xfrm>
          <a:custGeom>
            <a:avLst/>
            <a:gdLst/>
            <a:ahLst/>
            <a:cxnLst/>
            <a:rect l="l" t="t" r="r" b="b"/>
            <a:pathLst>
              <a:path w="7013704" h="1990586">
                <a:moveTo>
                  <a:pt x="0" y="0"/>
                </a:moveTo>
                <a:lnTo>
                  <a:pt x="7013704" y="0"/>
                </a:lnTo>
                <a:lnTo>
                  <a:pt x="7013704" y="1990586"/>
                </a:lnTo>
                <a:lnTo>
                  <a:pt x="0" y="19905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144000" y="3643194"/>
            <a:ext cx="5807199" cy="3268723"/>
          </a:xfrm>
          <a:custGeom>
            <a:avLst/>
            <a:gdLst/>
            <a:ahLst/>
            <a:cxnLst/>
            <a:rect l="l" t="t" r="r" b="b"/>
            <a:pathLst>
              <a:path w="5807199" h="3268723">
                <a:moveTo>
                  <a:pt x="0" y="0"/>
                </a:moveTo>
                <a:lnTo>
                  <a:pt x="5807199" y="0"/>
                </a:lnTo>
                <a:lnTo>
                  <a:pt x="5807199" y="3268723"/>
                </a:lnTo>
                <a:lnTo>
                  <a:pt x="0" y="32687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829937" y="6922809"/>
            <a:ext cx="6556489" cy="3364191"/>
          </a:xfrm>
          <a:custGeom>
            <a:avLst/>
            <a:gdLst/>
            <a:ahLst/>
            <a:cxnLst/>
            <a:rect l="l" t="t" r="r" b="b"/>
            <a:pathLst>
              <a:path w="6556489" h="3364191">
                <a:moveTo>
                  <a:pt x="0" y="0"/>
                </a:moveTo>
                <a:lnTo>
                  <a:pt x="6556489" y="0"/>
                </a:lnTo>
                <a:lnTo>
                  <a:pt x="6556489" y="3364191"/>
                </a:lnTo>
                <a:lnTo>
                  <a:pt x="0" y="33641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9105840" y="7142007"/>
            <a:ext cx="9099220" cy="2925794"/>
          </a:xfrm>
          <a:custGeom>
            <a:avLst/>
            <a:gdLst/>
            <a:ahLst/>
            <a:cxnLst/>
            <a:rect l="l" t="t" r="r" b="b"/>
            <a:pathLst>
              <a:path w="9099220" h="2925794">
                <a:moveTo>
                  <a:pt x="0" y="0"/>
                </a:moveTo>
                <a:lnTo>
                  <a:pt x="9099220" y="0"/>
                </a:lnTo>
                <a:lnTo>
                  <a:pt x="9099220" y="2925794"/>
                </a:lnTo>
                <a:lnTo>
                  <a:pt x="0" y="29257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-1259349" y="1848102"/>
            <a:ext cx="14099289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Check for Impossible or Suspicious Values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-4308660" y="2738319"/>
            <a:ext cx="1714860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Negative or zero prices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43174" y="2738319"/>
            <a:ext cx="1714860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Orders with zero or negative total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-4631126" y="5833805"/>
            <a:ext cx="1714860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Inventory movements</a:t>
            </a:r>
          </a:p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with zero quantity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65640" y="6157655"/>
            <a:ext cx="171486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customers with no orders</a:t>
            </a:r>
          </a:p>
        </p:txBody>
      </p:sp>
    </p:spTree>
  </p:cSld>
  <p:clrMapOvr>
    <a:masterClrMapping/>
  </p:clrMapOvr>
  <p:transition spd="med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28700" y="3424119"/>
            <a:ext cx="7862419" cy="3717888"/>
          </a:xfrm>
          <a:custGeom>
            <a:avLst/>
            <a:gdLst/>
            <a:ahLst/>
            <a:cxnLst/>
            <a:rect l="l" t="t" r="r" b="b"/>
            <a:pathLst>
              <a:path w="7862419" h="3717888">
                <a:moveTo>
                  <a:pt x="0" y="0"/>
                </a:moveTo>
                <a:lnTo>
                  <a:pt x="7862419" y="0"/>
                </a:lnTo>
                <a:lnTo>
                  <a:pt x="7862419" y="3717888"/>
                </a:lnTo>
                <a:lnTo>
                  <a:pt x="0" y="3717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280945" y="3424119"/>
            <a:ext cx="7106713" cy="3498689"/>
          </a:xfrm>
          <a:custGeom>
            <a:avLst/>
            <a:gdLst/>
            <a:ahLst/>
            <a:cxnLst/>
            <a:rect l="l" t="t" r="r" b="b"/>
            <a:pathLst>
              <a:path w="7106713" h="3498689">
                <a:moveTo>
                  <a:pt x="0" y="0"/>
                </a:moveTo>
                <a:lnTo>
                  <a:pt x="7106713" y="0"/>
                </a:lnTo>
                <a:lnTo>
                  <a:pt x="7106713" y="3498690"/>
                </a:lnTo>
                <a:lnTo>
                  <a:pt x="0" y="34986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28700" y="6669722"/>
            <a:ext cx="9239397" cy="3617278"/>
          </a:xfrm>
          <a:custGeom>
            <a:avLst/>
            <a:gdLst/>
            <a:ahLst/>
            <a:cxnLst/>
            <a:rect l="l" t="t" r="r" b="b"/>
            <a:pathLst>
              <a:path w="9239397" h="3617278">
                <a:moveTo>
                  <a:pt x="0" y="0"/>
                </a:moveTo>
                <a:lnTo>
                  <a:pt x="9239397" y="0"/>
                </a:lnTo>
                <a:lnTo>
                  <a:pt x="9239397" y="3617278"/>
                </a:lnTo>
                <a:lnTo>
                  <a:pt x="0" y="36172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44" r="-444" b="-74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-1259349" y="1848102"/>
            <a:ext cx="14099289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Check Foreign Key Violations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-4308660" y="2738319"/>
            <a:ext cx="171486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Orders without valid customers</a:t>
            </a:r>
          </a:p>
          <a:p>
            <a:pPr algn="ctr">
              <a:lnSpc>
                <a:spcPts val="4080"/>
              </a:lnSpc>
              <a:spcBef>
                <a:spcPct val="0"/>
              </a:spcBef>
            </a:pPr>
            <a:endParaRPr lang="en-US" sz="34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943174" y="2738319"/>
            <a:ext cx="171486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Order details with invalid products</a:t>
            </a:r>
          </a:p>
          <a:p>
            <a:pPr algn="ctr">
              <a:lnSpc>
                <a:spcPts val="4080"/>
              </a:lnSpc>
              <a:spcBef>
                <a:spcPct val="0"/>
              </a:spcBef>
            </a:pPr>
            <a:endParaRPr lang="en-US" sz="34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-4631126" y="5833805"/>
            <a:ext cx="1714860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Check for Unused Products</a:t>
            </a:r>
          </a:p>
          <a:p>
            <a:pPr algn="ctr">
              <a:lnSpc>
                <a:spcPts val="3960"/>
              </a:lnSpc>
              <a:spcBef>
                <a:spcPct val="0"/>
              </a:spcBef>
            </a:pPr>
            <a:endParaRPr lang="en-US" sz="33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898773" y="1505202"/>
            <a:ext cx="8528554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Data Analysis in SSMS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0175" y="3681569"/>
            <a:ext cx="8186230" cy="3303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  <a:spcBef>
                <a:spcPct val="0"/>
              </a:spcBef>
            </a:pPr>
            <a:r>
              <a:rPr lang="en-US" sz="198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Calculate the total sales revenue from all orders.</a:t>
            </a:r>
          </a:p>
          <a:p>
            <a:pPr algn="ctr">
              <a:lnSpc>
                <a:spcPts val="2376"/>
              </a:lnSpc>
              <a:spcBef>
                <a:spcPct val="0"/>
              </a:spcBef>
            </a:pPr>
            <a:endParaRPr lang="en-US" sz="1980" b="1">
              <a:solidFill>
                <a:srgbClr val="19191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76"/>
              </a:lnSpc>
              <a:spcBef>
                <a:spcPct val="0"/>
              </a:spcBef>
            </a:pPr>
            <a:r>
              <a:rPr lang="en-US" sz="198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List the top 5 best-selling products by quantity sold.</a:t>
            </a:r>
          </a:p>
          <a:p>
            <a:pPr algn="ctr">
              <a:lnSpc>
                <a:spcPts val="2376"/>
              </a:lnSpc>
              <a:spcBef>
                <a:spcPct val="0"/>
              </a:spcBef>
            </a:pPr>
            <a:endParaRPr lang="en-US" sz="1980" b="1">
              <a:solidFill>
                <a:srgbClr val="19191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76"/>
              </a:lnSpc>
              <a:spcBef>
                <a:spcPct val="0"/>
              </a:spcBef>
            </a:pPr>
            <a:r>
              <a:rPr lang="en-US" sz="198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Identify customers with the highest number of orders.</a:t>
            </a:r>
          </a:p>
          <a:p>
            <a:pPr algn="ctr">
              <a:lnSpc>
                <a:spcPts val="2376"/>
              </a:lnSpc>
              <a:spcBef>
                <a:spcPct val="0"/>
              </a:spcBef>
            </a:pPr>
            <a:endParaRPr lang="en-US" sz="1980" b="1">
              <a:solidFill>
                <a:srgbClr val="19191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76"/>
              </a:lnSpc>
              <a:spcBef>
                <a:spcPct val="0"/>
              </a:spcBef>
            </a:pPr>
            <a:r>
              <a:rPr lang="en-US" sz="198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Generate an alert for products with stock quantities below 20 units</a:t>
            </a:r>
          </a:p>
          <a:p>
            <a:pPr algn="ctr">
              <a:lnSpc>
                <a:spcPts val="2376"/>
              </a:lnSpc>
              <a:spcBef>
                <a:spcPct val="0"/>
              </a:spcBef>
            </a:pPr>
            <a:endParaRPr lang="en-US" sz="1980" b="1">
              <a:solidFill>
                <a:srgbClr val="19191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76"/>
              </a:lnSpc>
              <a:spcBef>
                <a:spcPct val="0"/>
              </a:spcBef>
            </a:pPr>
            <a:r>
              <a:rPr lang="en-US" sz="198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Determine the percentage of orders that used a discount.</a:t>
            </a:r>
          </a:p>
          <a:p>
            <a:pPr algn="ctr">
              <a:lnSpc>
                <a:spcPts val="2376"/>
              </a:lnSpc>
              <a:spcBef>
                <a:spcPct val="0"/>
              </a:spcBef>
            </a:pPr>
            <a:endParaRPr lang="en-US" sz="1980" b="1">
              <a:solidFill>
                <a:srgbClr val="19191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76"/>
              </a:lnSpc>
              <a:spcBef>
                <a:spcPct val="0"/>
              </a:spcBef>
            </a:pPr>
            <a:r>
              <a:rPr lang="en-US" sz="198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Calculate the average rating for each product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23338" y="3686324"/>
            <a:ext cx="9193305" cy="3013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sz="1804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Compute the 30-day customer retention rate after their first purchase.</a:t>
            </a:r>
          </a:p>
          <a:p>
            <a:pPr algn="ctr">
              <a:lnSpc>
                <a:spcPts val="2165"/>
              </a:lnSpc>
              <a:spcBef>
                <a:spcPct val="0"/>
              </a:spcBef>
            </a:pPr>
            <a:endParaRPr lang="en-US" sz="1804" b="1">
              <a:solidFill>
                <a:srgbClr val="19191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sz="1804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Recommend products frequently bought together with items in customer wishlists</a:t>
            </a:r>
          </a:p>
          <a:p>
            <a:pPr algn="ctr">
              <a:lnSpc>
                <a:spcPts val="2165"/>
              </a:lnSpc>
              <a:spcBef>
                <a:spcPct val="0"/>
              </a:spcBef>
            </a:pPr>
            <a:endParaRPr lang="en-US" sz="1804" b="1">
              <a:solidFill>
                <a:srgbClr val="19191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sz="1804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Track inventory turnover trends using a 30-day moving average.</a:t>
            </a:r>
          </a:p>
          <a:p>
            <a:pPr algn="ctr">
              <a:lnSpc>
                <a:spcPts val="2165"/>
              </a:lnSpc>
              <a:spcBef>
                <a:spcPct val="0"/>
              </a:spcBef>
            </a:pPr>
            <a:endParaRPr lang="en-US" sz="1804" b="1">
              <a:solidFill>
                <a:srgbClr val="19191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sz="1804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Identify customers who have purchased every product in a specific category.</a:t>
            </a:r>
          </a:p>
          <a:p>
            <a:pPr algn="ctr">
              <a:lnSpc>
                <a:spcPts val="2165"/>
              </a:lnSpc>
              <a:spcBef>
                <a:spcPct val="0"/>
              </a:spcBef>
            </a:pPr>
            <a:endParaRPr lang="en-US" sz="1804" b="1">
              <a:solidFill>
                <a:srgbClr val="19191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sz="1804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Find pairs of products commonly bought together in the same order.</a:t>
            </a:r>
          </a:p>
          <a:p>
            <a:pPr algn="ctr">
              <a:lnSpc>
                <a:spcPts val="2165"/>
              </a:lnSpc>
              <a:spcBef>
                <a:spcPct val="0"/>
              </a:spcBef>
            </a:pPr>
            <a:endParaRPr lang="en-US" sz="1804" b="1">
              <a:solidFill>
                <a:srgbClr val="19191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165"/>
              </a:lnSpc>
              <a:spcBef>
                <a:spcPct val="0"/>
              </a:spcBef>
            </a:pPr>
            <a:r>
              <a:rPr lang="en-US" sz="1804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● Calculate the time taken to deliver orders in days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706050" y="3681569"/>
            <a:ext cx="0" cy="4496208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med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923447" y="3395772"/>
            <a:ext cx="11301259" cy="5862528"/>
          </a:xfrm>
          <a:custGeom>
            <a:avLst/>
            <a:gdLst/>
            <a:ahLst/>
            <a:cxnLst/>
            <a:rect l="l" t="t" r="r" b="b"/>
            <a:pathLst>
              <a:path w="11301259" h="5862528">
                <a:moveTo>
                  <a:pt x="0" y="0"/>
                </a:moveTo>
                <a:lnTo>
                  <a:pt x="11301259" y="0"/>
                </a:lnTo>
                <a:lnTo>
                  <a:pt x="11301259" y="5862528"/>
                </a:lnTo>
                <a:lnTo>
                  <a:pt x="0" y="58625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-1589414" y="2552952"/>
            <a:ext cx="171486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Identify customers with the highest number of orders.</a:t>
            </a:r>
          </a:p>
          <a:p>
            <a:pPr algn="ctr">
              <a:lnSpc>
                <a:spcPts val="4080"/>
              </a:lnSpc>
              <a:spcBef>
                <a:spcPct val="0"/>
              </a:spcBef>
            </a:pPr>
            <a:endParaRPr lang="en-US" sz="34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781800" y="2705100"/>
            <a:ext cx="10238952" cy="6893438"/>
          </a:xfrm>
          <a:custGeom>
            <a:avLst/>
            <a:gdLst/>
            <a:ahLst/>
            <a:cxnLst/>
            <a:rect l="l" t="t" r="r" b="b"/>
            <a:pathLst>
              <a:path w="9605444" h="6111464">
                <a:moveTo>
                  <a:pt x="0" y="0"/>
                </a:moveTo>
                <a:lnTo>
                  <a:pt x="9605444" y="0"/>
                </a:lnTo>
                <a:lnTo>
                  <a:pt x="9605444" y="6111463"/>
                </a:lnTo>
                <a:lnTo>
                  <a:pt x="0" y="611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62000" y="1948695"/>
            <a:ext cx="17148600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Recommend products frequently 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bought together with items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in customer </a:t>
            </a:r>
            <a:r>
              <a:rPr lang="en-US" sz="34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wishlists</a:t>
            </a:r>
            <a:endParaRPr lang="en-US" sz="34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endParaRPr lang="en-US" sz="34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535627" y="3600702"/>
            <a:ext cx="10177830" cy="6106698"/>
          </a:xfrm>
          <a:custGeom>
            <a:avLst/>
            <a:gdLst/>
            <a:ahLst/>
            <a:cxnLst/>
            <a:rect l="l" t="t" r="r" b="b"/>
            <a:pathLst>
              <a:path w="10177830" h="6106698">
                <a:moveTo>
                  <a:pt x="0" y="0"/>
                </a:moveTo>
                <a:lnTo>
                  <a:pt x="10177830" y="0"/>
                </a:lnTo>
                <a:lnTo>
                  <a:pt x="10177830" y="6106698"/>
                </a:lnTo>
                <a:lnTo>
                  <a:pt x="0" y="61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67756" y="1848102"/>
            <a:ext cx="14099289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Use high-conversion bundles in social and display ads.</a:t>
            </a:r>
          </a:p>
          <a:p>
            <a:pPr algn="ctr">
              <a:lnSpc>
                <a:spcPts val="4320"/>
              </a:lnSpc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-1589414" y="2552952"/>
            <a:ext cx="171486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Calculate the time taken to deliver orders in days.</a:t>
            </a:r>
          </a:p>
          <a:p>
            <a:pPr algn="ctr">
              <a:lnSpc>
                <a:spcPts val="4080"/>
              </a:lnSpc>
              <a:spcBef>
                <a:spcPct val="0"/>
              </a:spcBef>
            </a:pPr>
            <a:endParaRPr lang="en-US" sz="34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 spd="med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144401" y="1876677"/>
            <a:ext cx="10129157" cy="7381623"/>
          </a:xfrm>
          <a:custGeom>
            <a:avLst/>
            <a:gdLst/>
            <a:ahLst/>
            <a:cxnLst/>
            <a:rect l="l" t="t" r="r" b="b"/>
            <a:pathLst>
              <a:path w="10129157" h="7381623">
                <a:moveTo>
                  <a:pt x="0" y="0"/>
                </a:moveTo>
                <a:lnTo>
                  <a:pt x="10129157" y="0"/>
                </a:lnTo>
                <a:lnTo>
                  <a:pt x="10129157" y="7381623"/>
                </a:lnTo>
                <a:lnTo>
                  <a:pt x="0" y="73816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-743067" y="1154680"/>
            <a:ext cx="14099289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Customer Features View</a:t>
            </a:r>
          </a:p>
        </p:txBody>
      </p:sp>
    </p:spTree>
  </p:cSld>
  <p:clrMapOvr>
    <a:masterClrMapping/>
  </p:clrMapOvr>
  <p:transition spd="med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918090" y="1802377"/>
            <a:ext cx="6662297" cy="7758134"/>
          </a:xfrm>
          <a:custGeom>
            <a:avLst/>
            <a:gdLst/>
            <a:ahLst/>
            <a:cxnLst/>
            <a:rect l="l" t="t" r="r" b="b"/>
            <a:pathLst>
              <a:path w="6662297" h="7758134">
                <a:moveTo>
                  <a:pt x="0" y="0"/>
                </a:moveTo>
                <a:lnTo>
                  <a:pt x="6662297" y="0"/>
                </a:lnTo>
                <a:lnTo>
                  <a:pt x="6662297" y="7758134"/>
                </a:lnTo>
                <a:lnTo>
                  <a:pt x="0" y="77581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-1230483" y="1135630"/>
            <a:ext cx="14099289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Customer Category Pivot View</a:t>
            </a:r>
          </a:p>
        </p:txBody>
      </p:sp>
    </p:spTree>
  </p:cSld>
  <p:clrMapOvr>
    <a:masterClrMapping/>
  </p:clrMapOvr>
  <p:transition spd="med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144401" y="1611877"/>
            <a:ext cx="6535861" cy="7815678"/>
          </a:xfrm>
          <a:custGeom>
            <a:avLst/>
            <a:gdLst/>
            <a:ahLst/>
            <a:cxnLst/>
            <a:rect l="l" t="t" r="r" b="b"/>
            <a:pathLst>
              <a:path w="6535861" h="7815678">
                <a:moveTo>
                  <a:pt x="0" y="0"/>
                </a:moveTo>
                <a:lnTo>
                  <a:pt x="6535861" y="0"/>
                </a:lnTo>
                <a:lnTo>
                  <a:pt x="6535861" y="7815678"/>
                </a:lnTo>
                <a:lnTo>
                  <a:pt x="0" y="78156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60175" y="969272"/>
            <a:ext cx="14099289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Full Report</a:t>
            </a:r>
          </a:p>
        </p:txBody>
      </p:sp>
    </p:spTree>
  </p:cSld>
  <p:clrMapOvr>
    <a:masterClrMapping/>
  </p:clrMapOvr>
  <p:transition spd="med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28700" y="2121794"/>
            <a:ext cx="11301259" cy="4548757"/>
          </a:xfrm>
          <a:custGeom>
            <a:avLst/>
            <a:gdLst/>
            <a:ahLst/>
            <a:cxnLst/>
            <a:rect l="l" t="t" r="r" b="b"/>
            <a:pathLst>
              <a:path w="11301259" h="4548757">
                <a:moveTo>
                  <a:pt x="0" y="0"/>
                </a:moveTo>
                <a:lnTo>
                  <a:pt x="11301259" y="0"/>
                </a:lnTo>
                <a:lnTo>
                  <a:pt x="11301259" y="4548757"/>
                </a:lnTo>
                <a:lnTo>
                  <a:pt x="0" y="45487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1397894"/>
            <a:ext cx="14099289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Calculate the total sales revenue from all orders</a:t>
            </a:r>
          </a:p>
        </p:txBody>
      </p:sp>
    </p:spTree>
  </p:cSld>
  <p:clrMapOvr>
    <a:masterClrMapping/>
  </p:clrMapOvr>
  <p:transition spd="med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7C014-1B19-3FDF-0472-CDF6BAC6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D84223-4CD5-31C1-47C8-2D74CE3B9D78}"/>
              </a:ext>
            </a:extLst>
          </p:cNvPr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0A7A12F-925A-E2D5-9775-377E056794E6}"/>
                </a:ext>
              </a:extLst>
            </p:cNvPr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7D4F562-D5B0-015B-1D7C-A9D4558218CC}"/>
              </a:ext>
            </a:extLst>
          </p:cNvPr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529AD3C-1D06-4448-6BA8-B1E81BF054B3}"/>
                </a:ext>
              </a:extLst>
            </p:cNvPr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277D795B-4DD3-3ABF-3A01-73C75EF54A4B}"/>
              </a:ext>
            </a:extLst>
          </p:cNvPr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7C0A174-78BD-9DD3-47D4-513E3803A5F7}"/>
              </a:ext>
            </a:extLst>
          </p:cNvPr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FAE3647-8E8D-40C9-D0BC-7E5FD3BFF076}"/>
              </a:ext>
            </a:extLst>
          </p:cNvPr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A15A3C0-9AA4-ACE4-EC7E-C601383069D0}"/>
              </a:ext>
            </a:extLst>
          </p:cNvPr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BAF5776-B287-6BB3-F88D-1386DDFA6BAC}"/>
              </a:ext>
            </a:extLst>
          </p:cNvPr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179A73B-8C2A-8581-177D-ECC30EB841C2}"/>
              </a:ext>
            </a:extLst>
          </p:cNvPr>
          <p:cNvSpPr txBox="1"/>
          <p:nvPr/>
        </p:nvSpPr>
        <p:spPr>
          <a:xfrm>
            <a:off x="1028700" y="1397894"/>
            <a:ext cx="14099289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Calculate the total sales revenue from all orders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41A035-A096-3B7D-3E19-61D8EA38BF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179070"/>
            <a:ext cx="8382000" cy="757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60193"/>
      </p:ext>
    </p:extLst>
  </p:cSld>
  <p:clrMapOvr>
    <a:masterClrMapping/>
  </p:clrMapOvr>
  <p:transition spd="med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522893" y="3154516"/>
            <a:ext cx="9378009" cy="6552884"/>
          </a:xfrm>
          <a:custGeom>
            <a:avLst/>
            <a:gdLst/>
            <a:ahLst/>
            <a:cxnLst/>
            <a:rect l="l" t="t" r="r" b="b"/>
            <a:pathLst>
              <a:path w="9378009" h="6552884">
                <a:moveTo>
                  <a:pt x="0" y="0"/>
                </a:moveTo>
                <a:lnTo>
                  <a:pt x="9378009" y="0"/>
                </a:lnTo>
                <a:lnTo>
                  <a:pt x="9378009" y="6552884"/>
                </a:lnTo>
                <a:lnTo>
                  <a:pt x="0" y="65528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2253" y="1848102"/>
            <a:ext cx="14099289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List the top 5 best-selling products by quantity sold.</a:t>
            </a:r>
          </a:p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(Ranked by units sold, with revenue)</a:t>
            </a:r>
          </a:p>
          <a:p>
            <a:pPr algn="ctr">
              <a:lnSpc>
                <a:spcPts val="4320"/>
              </a:lnSpc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351767" y="2387215"/>
            <a:ext cx="9914377" cy="7559713"/>
          </a:xfrm>
          <a:custGeom>
            <a:avLst/>
            <a:gdLst/>
            <a:ahLst/>
            <a:cxnLst/>
            <a:rect l="l" t="t" r="r" b="b"/>
            <a:pathLst>
              <a:path w="9914377" h="7559713">
                <a:moveTo>
                  <a:pt x="0" y="0"/>
                </a:moveTo>
                <a:lnTo>
                  <a:pt x="9914378" y="0"/>
                </a:lnTo>
                <a:lnTo>
                  <a:pt x="9914378" y="7559712"/>
                </a:lnTo>
                <a:lnTo>
                  <a:pt x="0" y="7559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50620" y="1815715"/>
            <a:ext cx="15116671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Compute the 30-day customer retention rate after their first purchase.</a:t>
            </a:r>
          </a:p>
        </p:txBody>
      </p:sp>
    </p:spTree>
  </p:cSld>
  <p:clrMapOvr>
    <a:masterClrMapping/>
  </p:clrMapOvr>
  <p:transition spd="med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486091" y="2845682"/>
            <a:ext cx="10178884" cy="6861718"/>
          </a:xfrm>
          <a:custGeom>
            <a:avLst/>
            <a:gdLst/>
            <a:ahLst/>
            <a:cxnLst/>
            <a:rect l="l" t="t" r="r" b="b"/>
            <a:pathLst>
              <a:path w="10178884" h="6861718">
                <a:moveTo>
                  <a:pt x="0" y="0"/>
                </a:moveTo>
                <a:lnTo>
                  <a:pt x="10178884" y="0"/>
                </a:lnTo>
                <a:lnTo>
                  <a:pt x="10178884" y="6861718"/>
                </a:lnTo>
                <a:lnTo>
                  <a:pt x="0" y="68617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2253" y="1848102"/>
            <a:ext cx="14677396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Calculate the average rating for each product.</a:t>
            </a:r>
          </a:p>
          <a:p>
            <a:pPr algn="ctr">
              <a:lnSpc>
                <a:spcPts val="4320"/>
              </a:lnSpc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479573" y="3312642"/>
            <a:ext cx="10727767" cy="6195285"/>
          </a:xfrm>
          <a:custGeom>
            <a:avLst/>
            <a:gdLst/>
            <a:ahLst/>
            <a:cxnLst/>
            <a:rect l="l" t="t" r="r" b="b"/>
            <a:pathLst>
              <a:path w="10727767" h="6195285">
                <a:moveTo>
                  <a:pt x="0" y="0"/>
                </a:moveTo>
                <a:lnTo>
                  <a:pt x="10727767" y="0"/>
                </a:lnTo>
                <a:lnTo>
                  <a:pt x="10727767" y="6195285"/>
                </a:lnTo>
                <a:lnTo>
                  <a:pt x="0" y="61952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-131914" y="1657602"/>
            <a:ext cx="16617912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Identify customers who have purchased every product in a specific category.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877481" y="3237559"/>
            <a:ext cx="8862949" cy="6713684"/>
          </a:xfrm>
          <a:custGeom>
            <a:avLst/>
            <a:gdLst/>
            <a:ahLst/>
            <a:cxnLst/>
            <a:rect l="l" t="t" r="r" b="b"/>
            <a:pathLst>
              <a:path w="8862949" h="6713684">
                <a:moveTo>
                  <a:pt x="0" y="0"/>
                </a:moveTo>
                <a:lnTo>
                  <a:pt x="8862950" y="0"/>
                </a:lnTo>
                <a:lnTo>
                  <a:pt x="8862950" y="6713685"/>
                </a:lnTo>
                <a:lnTo>
                  <a:pt x="0" y="67136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53411" y="2123134"/>
            <a:ext cx="1491109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Find pairs of products commonly bought together in the same order.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7200" y="446673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572926" y="2762502"/>
            <a:ext cx="12266723" cy="6838698"/>
          </a:xfrm>
          <a:custGeom>
            <a:avLst/>
            <a:gdLst/>
            <a:ahLst/>
            <a:cxnLst/>
            <a:rect l="l" t="t" r="r" b="b"/>
            <a:pathLst>
              <a:path w="12266723" h="6838698">
                <a:moveTo>
                  <a:pt x="0" y="0"/>
                </a:moveTo>
                <a:lnTo>
                  <a:pt x="12266723" y="0"/>
                </a:lnTo>
                <a:lnTo>
                  <a:pt x="12266723" y="6838698"/>
                </a:lnTo>
                <a:lnTo>
                  <a:pt x="0" y="68386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00360" y="1933305"/>
            <a:ext cx="14677396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Generate an alert for products with stock quantities below 20 units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C9D7FC-9458-A458-800B-229B50C7C5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03"/>
          <a:stretch/>
        </p:blipFill>
        <p:spPr>
          <a:xfrm>
            <a:off x="2572926" y="2656293"/>
            <a:ext cx="12215174" cy="6944907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456071" y="2636018"/>
            <a:ext cx="9872784" cy="7071382"/>
          </a:xfrm>
          <a:custGeom>
            <a:avLst/>
            <a:gdLst/>
            <a:ahLst/>
            <a:cxnLst/>
            <a:rect l="l" t="t" r="r" b="b"/>
            <a:pathLst>
              <a:path w="9872784" h="7071382">
                <a:moveTo>
                  <a:pt x="0" y="0"/>
                </a:moveTo>
                <a:lnTo>
                  <a:pt x="9872784" y="0"/>
                </a:lnTo>
                <a:lnTo>
                  <a:pt x="9872784" y="7071382"/>
                </a:lnTo>
                <a:lnTo>
                  <a:pt x="0" y="7071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2253" y="1848102"/>
            <a:ext cx="14677396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Determine the percentage of orders that used a discount.</a:t>
            </a:r>
          </a:p>
          <a:p>
            <a:pPr algn="ctr">
              <a:lnSpc>
                <a:spcPts val="4320"/>
              </a:lnSpc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218674" y="2972211"/>
            <a:ext cx="9519702" cy="6735189"/>
          </a:xfrm>
          <a:custGeom>
            <a:avLst/>
            <a:gdLst/>
            <a:ahLst/>
            <a:cxnLst/>
            <a:rect l="l" t="t" r="r" b="b"/>
            <a:pathLst>
              <a:path w="9519702" h="6735189">
                <a:moveTo>
                  <a:pt x="0" y="0"/>
                </a:moveTo>
                <a:lnTo>
                  <a:pt x="9519702" y="0"/>
                </a:lnTo>
                <a:lnTo>
                  <a:pt x="9519702" y="6735189"/>
                </a:lnTo>
                <a:lnTo>
                  <a:pt x="0" y="67351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318528" y="2234775"/>
            <a:ext cx="13923864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Track inventory turnover trends using a 30-day moving average.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endParaRPr lang="en-US" sz="36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31425" y="1587100"/>
            <a:ext cx="152251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Recommendation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8809" y="3214687"/>
            <a:ext cx="14171018" cy="382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Several products consistently receive low ratings (3 or below).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 Recommendations: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o Focus improvement efforts on products with ratings ≤ 3.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o Run surveys for low-rated products to gather detailed feedback.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o Send follow-up emails asking happy customers to leave reviews.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o Offer small incentives (discounts, loyalty points) for leaving a review.</a:t>
            </a:r>
          </a:p>
        </p:txBody>
      </p:sp>
    </p:spTree>
  </p:cSld>
  <p:clrMapOvr>
    <a:masterClrMapping/>
  </p:clrMapOvr>
  <p:transition spd="med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51112" y="2671763"/>
            <a:ext cx="14347031" cy="600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 Launch a Loyalty Program</a:t>
            </a:r>
          </a:p>
          <a:p>
            <a:pPr marL="777240" lvl="1" indent="-388620" algn="l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Reward top customers with points, discounts, or exclusive benefits.</a:t>
            </a:r>
          </a:p>
          <a:p>
            <a:pPr marL="777240" lvl="1" indent="-388620" algn="l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Encourage repeat purchases and increase customer retention.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endParaRPr lang="en-US" sz="36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2. Create VIP Customer Tiers</a:t>
            </a:r>
          </a:p>
          <a:p>
            <a:pPr marL="777240" lvl="1" indent="-388620" algn="l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Introduce “Gold” or “Platinum” levels for frequent buyers.</a:t>
            </a:r>
          </a:p>
          <a:p>
            <a:pPr marL="777240" lvl="1" indent="-388620" algn="l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Offer perks like early access, premium support, or free shipping.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endParaRPr lang="en-US" sz="36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Collect Direct Feedback</a:t>
            </a:r>
          </a:p>
          <a:p>
            <a:pPr marL="777240" lvl="1" indent="-388620" algn="l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Engage top customers through surveys or feedback forms.</a:t>
            </a:r>
          </a:p>
          <a:p>
            <a:pPr marL="777240" lvl="1" indent="-388620" algn="l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insights to enhance user experience and service quality.</a:t>
            </a:r>
          </a:p>
        </p:txBody>
      </p:sp>
    </p:spTree>
  </p:cSld>
  <p:clrMapOvr>
    <a:masterClrMapping/>
  </p:clrMapOvr>
  <p:transition spd="med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51112" y="2671763"/>
            <a:ext cx="16536888" cy="545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4. Implement Smart Product Bundles</a:t>
            </a:r>
          </a:p>
          <a:p>
            <a:pPr marL="777240" lvl="1" indent="-388620" algn="l">
              <a:lnSpc>
                <a:spcPts val="432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Create dynamic bundles featuring wishlist items and their frequently bought companions.</a:t>
            </a:r>
          </a:p>
          <a:p>
            <a:pPr marL="777240" lvl="1" indent="-388620" algn="l">
              <a:lnSpc>
                <a:spcPts val="432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Offer bundle discounts to encourage larger cart sizes.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5. Cart Suggestions Based on Wishlist</a:t>
            </a:r>
          </a:p>
          <a:p>
            <a:pPr marL="777240" lvl="1" indent="-388620" algn="l">
              <a:lnSpc>
                <a:spcPts val="432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At checkout, recommend products commonly bought with items from the customer’s wishlist.</a:t>
            </a:r>
          </a:p>
          <a:p>
            <a:pPr marL="777240" lvl="1" indent="-388620" algn="l">
              <a:lnSpc>
                <a:spcPts val="432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Increase average order value with timely, relevant prompts.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6. Targeted Ads Based on Wishlist Associations</a:t>
            </a:r>
          </a:p>
          <a:p>
            <a:pPr marL="777240" lvl="1" indent="-388620" algn="l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Retarget users with ads showing complementary products.</a:t>
            </a:r>
          </a:p>
        </p:txBody>
      </p:sp>
    </p:spTree>
  </p:cSld>
  <p:clrMapOvr>
    <a:masterClrMapping/>
  </p:clrMapOvr>
  <p:transition spd="med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31425" y="1587100"/>
            <a:ext cx="152251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 Advanced Data Analysis in Power BI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4401" y="3798512"/>
            <a:ext cx="416775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Visual-Driven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58525" y="3952387"/>
            <a:ext cx="416775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Tools &amp; Calculations Used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2844" y="5427287"/>
            <a:ext cx="7512346" cy="269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Sales Performance: Revenue trends, AOV, discount impact. </a:t>
            </a:r>
          </a:p>
          <a:p>
            <a:pPr marL="647697" lvl="1" indent="-323848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Product Analysis: Best/worst performers, returns, stock alerts.</a:t>
            </a:r>
          </a:p>
          <a:p>
            <a:pPr marL="647697" lvl="1" indent="-323848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 Customer Segmentation: Top customers, retention, lifetime value.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18002" y="5593975"/>
            <a:ext cx="6538573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6" lvl="1" indent="-334643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DAX for custom measures (CLV, discount effect, YoY growth).</a:t>
            </a:r>
          </a:p>
          <a:p>
            <a:pPr algn="l">
              <a:lnSpc>
                <a:spcPts val="3719"/>
              </a:lnSpc>
            </a:pPr>
            <a:endParaRPr lang="en-US" sz="3099">
              <a:solidFill>
                <a:srgbClr val="191919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69286" lvl="1" indent="-334643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Power Query for data modeling and cleaning. </a:t>
            </a:r>
          </a:p>
        </p:txBody>
      </p:sp>
    </p:spTree>
  </p:cSld>
  <p:clrMapOvr>
    <a:masterClrMapping/>
  </p:clrMapOvr>
  <p:transition spd="med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444103" y="1768022"/>
            <a:ext cx="13399793" cy="7939378"/>
          </a:xfrm>
          <a:custGeom>
            <a:avLst/>
            <a:gdLst/>
            <a:ahLst/>
            <a:cxnLst/>
            <a:rect l="l" t="t" r="r" b="b"/>
            <a:pathLst>
              <a:path w="13399793" h="7939378">
                <a:moveTo>
                  <a:pt x="0" y="0"/>
                </a:moveTo>
                <a:lnTo>
                  <a:pt x="13399794" y="0"/>
                </a:lnTo>
                <a:lnTo>
                  <a:pt x="13399794" y="7939378"/>
                </a:lnTo>
                <a:lnTo>
                  <a:pt x="0" y="79393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431495" y="1671081"/>
            <a:ext cx="13620880" cy="8036319"/>
          </a:xfrm>
          <a:custGeom>
            <a:avLst/>
            <a:gdLst/>
            <a:ahLst/>
            <a:cxnLst/>
            <a:rect l="l" t="t" r="r" b="b"/>
            <a:pathLst>
              <a:path w="13620880" h="8036319">
                <a:moveTo>
                  <a:pt x="0" y="0"/>
                </a:moveTo>
                <a:lnTo>
                  <a:pt x="13620880" y="0"/>
                </a:lnTo>
                <a:lnTo>
                  <a:pt x="13620880" y="8036319"/>
                </a:lnTo>
                <a:lnTo>
                  <a:pt x="0" y="80363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642888" y="1621901"/>
            <a:ext cx="13560585" cy="8085499"/>
          </a:xfrm>
          <a:custGeom>
            <a:avLst/>
            <a:gdLst/>
            <a:ahLst/>
            <a:cxnLst/>
            <a:rect l="l" t="t" r="r" b="b"/>
            <a:pathLst>
              <a:path w="13560585" h="8085499">
                <a:moveTo>
                  <a:pt x="0" y="0"/>
                </a:moveTo>
                <a:lnTo>
                  <a:pt x="13560585" y="0"/>
                </a:lnTo>
                <a:lnTo>
                  <a:pt x="13560585" y="8085499"/>
                </a:lnTo>
                <a:lnTo>
                  <a:pt x="0" y="80854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541529" y="1718409"/>
            <a:ext cx="13204943" cy="7988991"/>
          </a:xfrm>
          <a:custGeom>
            <a:avLst/>
            <a:gdLst/>
            <a:ahLst/>
            <a:cxnLst/>
            <a:rect l="l" t="t" r="r" b="b"/>
            <a:pathLst>
              <a:path w="13204943" h="7988991">
                <a:moveTo>
                  <a:pt x="0" y="0"/>
                </a:moveTo>
                <a:lnTo>
                  <a:pt x="13204942" y="0"/>
                </a:lnTo>
                <a:lnTo>
                  <a:pt x="13204942" y="7988991"/>
                </a:lnTo>
                <a:lnTo>
                  <a:pt x="0" y="79889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794714" y="1729188"/>
            <a:ext cx="13408759" cy="7978212"/>
          </a:xfrm>
          <a:custGeom>
            <a:avLst/>
            <a:gdLst/>
            <a:ahLst/>
            <a:cxnLst/>
            <a:rect l="l" t="t" r="r" b="b"/>
            <a:pathLst>
              <a:path w="13408759" h="7978212">
                <a:moveTo>
                  <a:pt x="0" y="0"/>
                </a:moveTo>
                <a:lnTo>
                  <a:pt x="13408759" y="0"/>
                </a:lnTo>
                <a:lnTo>
                  <a:pt x="13408759" y="7978212"/>
                </a:lnTo>
                <a:lnTo>
                  <a:pt x="0" y="7978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144401" y="3486150"/>
            <a:ext cx="5800968" cy="391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9"/>
              </a:lnSpc>
              <a:spcBef>
                <a:spcPct val="0"/>
              </a:spcBef>
            </a:pPr>
            <a:r>
              <a:rPr lang="en-US" sz="4099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Key KPIs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- Total Revenue: 45M (+24.6%)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- Total Orders: 10.2K (+24.57%)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- Quantity Sold: 92K (+24.45%)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- Return Rate: 1% (very low, indicates high customer satisfaction)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- Products Analyzed: 599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endParaRPr lang="en-US" sz="2699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860779" y="3486150"/>
            <a:ext cx="8847996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  <a:spcBef>
                <a:spcPct val="0"/>
              </a:spcBef>
            </a:pPr>
            <a:r>
              <a:rPr lang="en-US" sz="3799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Returns Analysis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Completed: 29.13%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Rejected: 27.18% (high – requires review)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Pending: 23.3%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Approved: 20.39%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Returns peaked in February and March; dropped sharply in May.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Shipping Company Distribution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UPS: 34.53%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FedEx: 32.93%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DHL: 32.54%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endParaRPr lang="en-US" sz="2699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175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4825503">
            <a:off x="-3795469" y="6077569"/>
            <a:ext cx="6742718" cy="4248026"/>
            <a:chOff x="0" y="0"/>
            <a:chExt cx="8990291" cy="5664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0330" cy="5664073"/>
            </a:xfrm>
            <a:custGeom>
              <a:avLst/>
              <a:gdLst/>
              <a:ahLst/>
              <a:cxnLst/>
              <a:rect l="l" t="t" r="r" b="b"/>
              <a:pathLst>
                <a:path w="8990330" h="5664073">
                  <a:moveTo>
                    <a:pt x="0" y="2831973"/>
                  </a:moveTo>
                  <a:cubicBezTo>
                    <a:pt x="0" y="1263269"/>
                    <a:pt x="2018411" y="0"/>
                    <a:pt x="4495165" y="0"/>
                  </a:cubicBezTo>
                  <a:cubicBezTo>
                    <a:pt x="6971919" y="0"/>
                    <a:pt x="8990330" y="1263269"/>
                    <a:pt x="8990330" y="2831973"/>
                  </a:cubicBezTo>
                  <a:lnTo>
                    <a:pt x="8977630" y="2831973"/>
                  </a:lnTo>
                  <a:lnTo>
                    <a:pt x="8990330" y="2831973"/>
                  </a:lnTo>
                  <a:cubicBezTo>
                    <a:pt x="8990330" y="4400804"/>
                    <a:pt x="6971919" y="5663946"/>
                    <a:pt x="4495165" y="5663946"/>
                  </a:cubicBezTo>
                  <a:lnTo>
                    <a:pt x="4495165" y="5651246"/>
                  </a:lnTo>
                  <a:lnTo>
                    <a:pt x="4495165" y="5663946"/>
                  </a:lnTo>
                  <a:cubicBezTo>
                    <a:pt x="2018411" y="5664073"/>
                    <a:pt x="0" y="4400804"/>
                    <a:pt x="0" y="2831973"/>
                  </a:cubicBezTo>
                  <a:lnTo>
                    <a:pt x="12700" y="2831973"/>
                  </a:lnTo>
                  <a:lnTo>
                    <a:pt x="25400" y="2831973"/>
                  </a:lnTo>
                  <a:lnTo>
                    <a:pt x="12700" y="2831973"/>
                  </a:lnTo>
                  <a:lnTo>
                    <a:pt x="0" y="2831973"/>
                  </a:lnTo>
                  <a:moveTo>
                    <a:pt x="25400" y="2831973"/>
                  </a:moveTo>
                  <a:cubicBezTo>
                    <a:pt x="25400" y="2838958"/>
                    <a:pt x="19685" y="2844673"/>
                    <a:pt x="12700" y="2844673"/>
                  </a:cubicBezTo>
                  <a:cubicBezTo>
                    <a:pt x="5715" y="2844673"/>
                    <a:pt x="0" y="2838958"/>
                    <a:pt x="0" y="2831973"/>
                  </a:cubicBezTo>
                  <a:cubicBezTo>
                    <a:pt x="0" y="2824988"/>
                    <a:pt x="5715" y="2819273"/>
                    <a:pt x="12700" y="2819273"/>
                  </a:cubicBezTo>
                  <a:cubicBezTo>
                    <a:pt x="19685" y="2819273"/>
                    <a:pt x="25400" y="2824988"/>
                    <a:pt x="25400" y="2831973"/>
                  </a:cubicBezTo>
                  <a:cubicBezTo>
                    <a:pt x="25400" y="4377309"/>
                    <a:pt x="2020697" y="5638673"/>
                    <a:pt x="4495165" y="5638673"/>
                  </a:cubicBezTo>
                  <a:cubicBezTo>
                    <a:pt x="6969633" y="5638673"/>
                    <a:pt x="8964930" y="4377309"/>
                    <a:pt x="8964930" y="2831973"/>
                  </a:cubicBezTo>
                  <a:cubicBezTo>
                    <a:pt x="8964930" y="1286637"/>
                    <a:pt x="6969633" y="25400"/>
                    <a:pt x="4495165" y="25400"/>
                  </a:cubicBezTo>
                  <a:lnTo>
                    <a:pt x="4495165" y="12700"/>
                  </a:lnTo>
                  <a:lnTo>
                    <a:pt x="4495165" y="25400"/>
                  </a:lnTo>
                  <a:cubicBezTo>
                    <a:pt x="2020697" y="25400"/>
                    <a:pt x="25400" y="1286637"/>
                    <a:pt x="25400" y="2831973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368287" y="2312454"/>
            <a:ext cx="7562302" cy="630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sz="3584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Top Products &amp; Categories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sz="304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Top product: 'Customizable homogeneous installation' – Revenue: 1.17M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sz="304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Most categories range between 6M–8.4M in revenue.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endParaRPr lang="en-US" sz="3041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sz="3584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Inventory Observations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sz="304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Many overstocked items are high-sellers – potential supply chain optimization.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sz="304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Products with high return value need attention (e.g., 'Team-oriented eco-centric emulation' – 18K+ return value).</a:t>
            </a:r>
          </a:p>
          <a:p>
            <a:pPr algn="l">
              <a:lnSpc>
                <a:spcPts val="1564"/>
              </a:lnSpc>
              <a:spcBef>
                <a:spcPct val="0"/>
              </a:spcBef>
            </a:pPr>
            <a:endParaRPr lang="en-US" sz="3041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587171" y="3200957"/>
            <a:ext cx="8136558" cy="461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  <a:spcBef>
                <a:spcPct val="0"/>
              </a:spcBef>
            </a:pPr>
            <a:r>
              <a:rPr lang="en-US" sz="3799" b="1">
                <a:solidFill>
                  <a:srgbClr val="5271FF"/>
                </a:solidFill>
                <a:latin typeface="Arimo Bold"/>
                <a:ea typeface="Arimo Bold"/>
                <a:cs typeface="Arimo Bold"/>
                <a:sym typeface="Arimo Bold"/>
              </a:rPr>
              <a:t>Critical Drop in May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Orders dropped from average of ~2.4K to 0.5K – a 75%+ decrease.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This is a red flag and could indicate marketing, technical, or supply issues.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Returns and reviews also dropped accordingly.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3499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985910" y="6193325"/>
            <a:ext cx="69805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Customer Retention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31425" y="1587100"/>
            <a:ext cx="152251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Insights &amp; Recommendations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1425" y="3999424"/>
            <a:ext cx="6980550" cy="792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894" lvl="1" indent="-278447" algn="l">
              <a:lnSpc>
                <a:spcPts val="3095"/>
              </a:lnSpc>
              <a:buFont typeface="Arial"/>
              <a:buChar char="•"/>
            </a:pPr>
            <a:r>
              <a:rPr lang="en-US" sz="257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Focus marketing on months with high AOV. </a:t>
            </a:r>
          </a:p>
          <a:p>
            <a:pPr marL="556894" lvl="1" indent="-278447" algn="l">
              <a:lnSpc>
                <a:spcPts val="3095"/>
              </a:lnSpc>
              <a:buFont typeface="Arial"/>
              <a:buChar char="•"/>
            </a:pPr>
            <a:r>
              <a:rPr lang="en-US" sz="257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 Expand top-selling categories.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05035" y="3989899"/>
            <a:ext cx="698055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Restock high-rated low-stock items. </a:t>
            </a:r>
          </a:p>
          <a:p>
            <a:pPr marL="582928" lvl="1" indent="-291464" algn="l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Remove long-idle products.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52273" y="7234980"/>
            <a:ext cx="9047825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Target frequent discount users with loyalty programs.</a:t>
            </a:r>
          </a:p>
          <a:p>
            <a:pPr marL="582928" lvl="1" indent="-291464" algn="l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 Win-back campaigns for dormant customers.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31425" y="3269849"/>
            <a:ext cx="69805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Sales Strategy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04961" y="3269849"/>
            <a:ext cx="69805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Inventory Planning</a:t>
            </a:r>
          </a:p>
        </p:txBody>
      </p:sp>
    </p:spTree>
  </p:cSld>
  <p:clrMapOvr>
    <a:masterClrMapping/>
  </p:clrMapOvr>
  <p:transition spd="med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WhatsApp Video 2025-05-23 at 01.09.25_4ef0d820">
            <a:hlinkClick r:id="" action="ppaction://media"/>
            <a:extLst>
              <a:ext uri="{FF2B5EF4-FFF2-40B4-BE49-F238E27FC236}">
                <a16:creationId xmlns:a16="http://schemas.microsoft.com/office/drawing/2014/main" id="{6DE890CF-4611-1B19-6DF2-57270E14024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23949" y="773389"/>
            <a:ext cx="16625851" cy="8936396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88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34582" y="3983686"/>
            <a:ext cx="13849554" cy="81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3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Machine Learning</a:t>
            </a:r>
            <a:endParaRPr lang="en-US" sz="5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 spd="med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8D7C5-D566-81FF-A781-C2D6B5D6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8B3E0E-ED94-B1D0-A616-F27E66E65629}"/>
              </a:ext>
            </a:extLst>
          </p:cNvPr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6E4C71-1BB3-0CE8-9AD0-CFC02778B62D}"/>
                </a:ext>
              </a:extLst>
            </p:cNvPr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8C3720A-9436-29E6-3806-4D6D3D7E13BE}"/>
              </a:ext>
            </a:extLst>
          </p:cNvPr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810A6A7-7290-E4E2-2FC6-821CDD9CC1A2}"/>
                </a:ext>
              </a:extLst>
            </p:cNvPr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AE5B0630-FAEC-6992-0435-9A92BCCF26D2}"/>
              </a:ext>
            </a:extLst>
          </p:cNvPr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F28F9A0-C2C5-9F19-32F2-10D4A9C31897}"/>
              </a:ext>
            </a:extLst>
          </p:cNvPr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FD90F3CC-959E-581A-5115-75AA7AE04972}"/>
              </a:ext>
            </a:extLst>
          </p:cNvPr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72928EA-95F3-1E27-1D40-8121476D5915}"/>
              </a:ext>
            </a:extLst>
          </p:cNvPr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FBAFA26-A0CB-A509-397A-57D419EB6B89}"/>
              </a:ext>
            </a:extLst>
          </p:cNvPr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1FF783E-232E-509B-6514-6597224689C9}"/>
              </a:ext>
            </a:extLst>
          </p:cNvPr>
          <p:cNvSpPr txBox="1"/>
          <p:nvPr/>
        </p:nvSpPr>
        <p:spPr>
          <a:xfrm>
            <a:off x="1863744" y="3305175"/>
            <a:ext cx="13849554" cy="244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3"/>
              </a:lnSpc>
              <a:spcBef>
                <a:spcPct val="0"/>
              </a:spcBef>
            </a:pPr>
            <a:r>
              <a:rPr lang="en-US" sz="52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Objective</a:t>
            </a:r>
            <a:r>
              <a:rPr lang="en-US" sz="52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  <a:p>
            <a:pPr algn="l">
              <a:lnSpc>
                <a:spcPts val="4329"/>
              </a:lnSpc>
              <a:spcBef>
                <a:spcPct val="0"/>
              </a:spcBef>
            </a:pPr>
            <a:r>
              <a:rPr lang="en-US" sz="36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predict trends and automate analysis using SQL Server data and modern Python-based ML tools. This documentation expands upon the technical implementation, tools used, and insights derived</a:t>
            </a:r>
          </a:p>
        </p:txBody>
      </p:sp>
    </p:spTree>
    <p:extLst>
      <p:ext uri="{BB962C8B-B14F-4D97-AF65-F5344CB8AC3E}">
        <p14:creationId xmlns:p14="http://schemas.microsoft.com/office/powerpoint/2010/main" val="2065948996"/>
      </p:ext>
    </p:extLst>
  </p:cSld>
  <p:clrMapOvr>
    <a:masterClrMapping/>
  </p:clrMapOvr>
  <p:transition spd="med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63744" y="3305175"/>
            <a:ext cx="13849554" cy="468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3"/>
              </a:lnSpc>
              <a:spcBef>
                <a:spcPct val="0"/>
              </a:spcBef>
            </a:pPr>
            <a:r>
              <a:rPr lang="en-US" sz="52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4.1 Automated Data Cleaning</a:t>
            </a:r>
          </a:p>
          <a:p>
            <a:pPr algn="l">
              <a:lnSpc>
                <a:spcPts val="4813"/>
              </a:lnSpc>
              <a:spcBef>
                <a:spcPct val="0"/>
              </a:spcBef>
            </a:pPr>
            <a:r>
              <a:rPr lang="en-US" sz="40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Tools &amp; Definitions:</a:t>
            </a:r>
          </a:p>
          <a:p>
            <a:pPr marL="628531" lvl="1" indent="-314266" algn="l">
              <a:lnSpc>
                <a:spcPts val="3493"/>
              </a:lnSpc>
              <a:spcBef>
                <a:spcPct val="0"/>
              </a:spcBef>
              <a:buFont typeface="Arial"/>
              <a:buChar char="•"/>
            </a:pPr>
            <a:r>
              <a:rPr lang="en-US" sz="2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Mito: A low-code spreadsheet-like interface integrated with Jupyter that allows for rapid data wrangling and generates Python code behind the scenes.</a:t>
            </a:r>
          </a:p>
          <a:p>
            <a:pPr marL="628531" lvl="1" indent="-314266" algn="l">
              <a:lnSpc>
                <a:spcPts val="3493"/>
              </a:lnSpc>
              <a:spcBef>
                <a:spcPct val="0"/>
              </a:spcBef>
              <a:buFont typeface="Arial"/>
              <a:buChar char="•"/>
            </a:pPr>
            <a:r>
              <a:rPr lang="en-US" sz="29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Pandas: A powerful Python data analysis library used for handling structured data (DataFrames).</a:t>
            </a:r>
          </a:p>
          <a:p>
            <a:pPr marL="693300" lvl="1" indent="-346650" algn="l">
              <a:lnSpc>
                <a:spcPts val="3853"/>
              </a:lnSpc>
              <a:spcBef>
                <a:spcPct val="0"/>
              </a:spcBef>
              <a:buFont typeface="Arial"/>
              <a:buChar char="•"/>
            </a:pPr>
            <a:r>
              <a:rPr lang="en-US" sz="32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pyodbc: A Python module for connecting to ODBC-compliant databases, like SQL Server.</a:t>
            </a:r>
          </a:p>
          <a:p>
            <a:pPr algn="l">
              <a:lnSpc>
                <a:spcPts val="4329"/>
              </a:lnSpc>
              <a:spcBef>
                <a:spcPct val="0"/>
              </a:spcBef>
            </a:pPr>
            <a:endParaRPr lang="en-US" sz="3211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 spd="med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63744" y="2529630"/>
            <a:ext cx="13849554" cy="554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3"/>
              </a:lnSpc>
            </a:pPr>
            <a:r>
              <a:rPr lang="en-US" sz="52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Process:</a:t>
            </a:r>
          </a:p>
          <a:p>
            <a:pPr marL="542173" lvl="1" indent="-271087" algn="l">
              <a:lnSpc>
                <a:spcPts val="3013"/>
              </a:lnSpc>
              <a:spcBef>
                <a:spcPct val="0"/>
              </a:spcBef>
              <a:buAutoNum type="arabicPeriod"/>
            </a:pPr>
            <a:r>
              <a:rPr lang="en-US" sz="2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Established a secure connection to SQL Server using pyodbc and extracted the following relational tables:</a:t>
            </a:r>
          </a:p>
          <a:p>
            <a:pPr marL="1084347" lvl="2" indent="-361449" algn="l">
              <a:lnSpc>
                <a:spcPts val="3013"/>
              </a:lnSpc>
              <a:spcBef>
                <a:spcPct val="0"/>
              </a:spcBef>
              <a:buFont typeface="Arial"/>
              <a:buChar char="⚬"/>
            </a:pPr>
            <a:r>
              <a:rPr lang="en-US" sz="2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orders, customers, products, categories, order_details, reviews</a:t>
            </a:r>
          </a:p>
          <a:p>
            <a:pPr marL="542173" lvl="1" indent="-271087" algn="l">
              <a:lnSpc>
                <a:spcPts val="3013"/>
              </a:lnSpc>
              <a:spcBef>
                <a:spcPct val="0"/>
              </a:spcBef>
              <a:buAutoNum type="arabicPeriod"/>
            </a:pPr>
            <a:r>
              <a:rPr lang="en-US" sz="2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Tables were loaded into a Python dictionary for modular and programmatic access.</a:t>
            </a:r>
          </a:p>
          <a:p>
            <a:pPr marL="542173" lvl="1" indent="-271087" algn="l">
              <a:lnSpc>
                <a:spcPts val="3013"/>
              </a:lnSpc>
              <a:spcBef>
                <a:spcPct val="0"/>
              </a:spcBef>
              <a:buAutoNum type="arabicPeriod"/>
            </a:pPr>
            <a:r>
              <a:rPr lang="en-US" sz="2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Cleaning operations:</a:t>
            </a:r>
          </a:p>
          <a:p>
            <a:pPr marL="1084347" lvl="2" indent="-361449" algn="l">
              <a:lnSpc>
                <a:spcPts val="3013"/>
              </a:lnSpc>
              <a:spcBef>
                <a:spcPct val="0"/>
              </a:spcBef>
              <a:buFont typeface="Arial"/>
              <a:buChar char="⚬"/>
            </a:pPr>
            <a:r>
              <a:rPr lang="en-US" sz="2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Filled missing parent_id fields in the categories table with the median.</a:t>
            </a:r>
          </a:p>
          <a:p>
            <a:pPr marL="1084347" lvl="2" indent="-361449" algn="l">
              <a:lnSpc>
                <a:spcPts val="3013"/>
              </a:lnSpc>
              <a:spcBef>
                <a:spcPct val="0"/>
              </a:spcBef>
              <a:buFont typeface="Arial"/>
              <a:buChar char="⚬"/>
            </a:pPr>
            <a:r>
              <a:rPr lang="en-US" sz="2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Converted data types for date fields (order_date, registration_date) and price fields (unit_price, total_price).</a:t>
            </a:r>
          </a:p>
          <a:p>
            <a:pPr marL="542173" lvl="1" indent="-271087" algn="l">
              <a:lnSpc>
                <a:spcPts val="3013"/>
              </a:lnSpc>
              <a:spcBef>
                <a:spcPct val="0"/>
              </a:spcBef>
              <a:buAutoNum type="arabicPeriod"/>
            </a:pPr>
            <a:r>
              <a:rPr lang="en-US" sz="2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Hierarchical enhancement:</a:t>
            </a:r>
          </a:p>
          <a:p>
            <a:pPr marL="1084347" lvl="2" indent="-361449" algn="l">
              <a:lnSpc>
                <a:spcPts val="3013"/>
              </a:lnSpc>
              <a:spcBef>
                <a:spcPct val="0"/>
              </a:spcBef>
              <a:buFont typeface="Arial"/>
              <a:buChar char="⚬"/>
            </a:pPr>
            <a:r>
              <a:rPr lang="en-US" sz="2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Used recursive merging to represent parent-child relationships in categories.</a:t>
            </a:r>
          </a:p>
          <a:p>
            <a:pPr marL="1084347" lvl="2" indent="-361449" algn="l">
              <a:lnSpc>
                <a:spcPts val="3013"/>
              </a:lnSpc>
              <a:spcBef>
                <a:spcPct val="0"/>
              </a:spcBef>
              <a:buFont typeface="Arial"/>
              <a:buChar char="⚬"/>
            </a:pPr>
            <a:r>
              <a:rPr lang="en-US" sz="2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Constructed a visual graph of category relationships using networkx.</a:t>
            </a:r>
          </a:p>
          <a:p>
            <a:pPr algn="l">
              <a:lnSpc>
                <a:spcPts val="4329"/>
              </a:lnSpc>
              <a:spcBef>
                <a:spcPct val="0"/>
              </a:spcBef>
            </a:pPr>
            <a:endParaRPr lang="en-US" sz="2511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853499" y="4322659"/>
            <a:ext cx="12968546" cy="4684887"/>
          </a:xfrm>
          <a:custGeom>
            <a:avLst/>
            <a:gdLst/>
            <a:ahLst/>
            <a:cxnLst/>
            <a:rect l="l" t="t" r="r" b="b"/>
            <a:pathLst>
              <a:path w="12968546" h="4684887">
                <a:moveTo>
                  <a:pt x="0" y="0"/>
                </a:moveTo>
                <a:lnTo>
                  <a:pt x="12968546" y="0"/>
                </a:lnTo>
                <a:lnTo>
                  <a:pt x="12968546" y="4684887"/>
                </a:lnTo>
                <a:lnTo>
                  <a:pt x="0" y="46848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579351" y="2395307"/>
            <a:ext cx="13849554" cy="220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3"/>
              </a:lnSpc>
              <a:spcBef>
                <a:spcPct val="0"/>
              </a:spcBef>
            </a:pPr>
            <a:r>
              <a:rPr lang="en-US" sz="41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Insight: Enhanced relational integrity and data quality, setting a strong foundation for downstream modeling and analytics.</a:t>
            </a:r>
          </a:p>
          <a:p>
            <a:pPr algn="l">
              <a:lnSpc>
                <a:spcPts val="2649"/>
              </a:lnSpc>
              <a:spcBef>
                <a:spcPct val="0"/>
              </a:spcBef>
            </a:pPr>
            <a:endParaRPr lang="en-US" sz="4111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57699" y="2809644"/>
            <a:ext cx="13849554" cy="357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3"/>
              </a:lnSpc>
              <a:spcBef>
                <a:spcPct val="0"/>
              </a:spcBef>
            </a:pPr>
            <a:r>
              <a:rPr lang="en-US" sz="41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Exploratory Data Analysis (EDA):</a:t>
            </a:r>
          </a:p>
          <a:p>
            <a:pPr marL="887605" lvl="1" indent="-443802" algn="l">
              <a:lnSpc>
                <a:spcPts val="4933"/>
              </a:lnSpc>
              <a:spcBef>
                <a:spcPct val="0"/>
              </a:spcBef>
              <a:buFont typeface="Arial"/>
              <a:buChar char="•"/>
            </a:pPr>
            <a:r>
              <a:rPr lang="en-US" sz="41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Generated visualizations to analyze:</a:t>
            </a:r>
          </a:p>
          <a:p>
            <a:pPr marL="1429778" lvl="2" indent="-476593" algn="l">
              <a:lnSpc>
                <a:spcPts val="3973"/>
              </a:lnSpc>
              <a:spcBef>
                <a:spcPct val="0"/>
              </a:spcBef>
              <a:buFont typeface="Arial"/>
              <a:buChar char="⚬"/>
            </a:pPr>
            <a:r>
              <a:rPr lang="en-US" sz="33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Order distribution by status and date</a:t>
            </a:r>
          </a:p>
          <a:p>
            <a:pPr marL="1429778" lvl="2" indent="-476593" algn="l">
              <a:lnSpc>
                <a:spcPts val="3973"/>
              </a:lnSpc>
              <a:spcBef>
                <a:spcPct val="0"/>
              </a:spcBef>
              <a:buFont typeface="Arial"/>
              <a:buChar char="⚬"/>
            </a:pPr>
            <a:r>
              <a:rPr lang="en-US" sz="33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Product price and review rating histograms</a:t>
            </a:r>
          </a:p>
          <a:p>
            <a:pPr marL="1429778" lvl="2" indent="-476593" algn="l">
              <a:lnSpc>
                <a:spcPts val="3973"/>
              </a:lnSpc>
              <a:spcBef>
                <a:spcPct val="0"/>
              </a:spcBef>
              <a:buFont typeface="Arial"/>
              <a:buChar char="⚬"/>
            </a:pPr>
            <a:r>
              <a:rPr lang="en-US" sz="33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Monthly revenue trends and customer acquisition timeline</a:t>
            </a:r>
          </a:p>
          <a:p>
            <a:pPr marL="1429778" lvl="2" indent="-476593" algn="l">
              <a:lnSpc>
                <a:spcPts val="3973"/>
              </a:lnSpc>
              <a:spcBef>
                <a:spcPct val="0"/>
              </a:spcBef>
              <a:buFont typeface="Arial"/>
              <a:buChar char="⚬"/>
            </a:pPr>
            <a:r>
              <a:rPr lang="en-US" sz="331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Category-level sales and top products by revenue</a:t>
            </a:r>
          </a:p>
          <a:p>
            <a:pPr algn="l">
              <a:lnSpc>
                <a:spcPts val="2649"/>
              </a:lnSpc>
              <a:spcBef>
                <a:spcPct val="0"/>
              </a:spcBef>
            </a:pPr>
            <a:endParaRPr lang="en-US" sz="3311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 spd="med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371342" y="3599957"/>
            <a:ext cx="8878250" cy="5313870"/>
          </a:xfrm>
          <a:custGeom>
            <a:avLst/>
            <a:gdLst/>
            <a:ahLst/>
            <a:cxnLst/>
            <a:rect l="l" t="t" r="r" b="b"/>
            <a:pathLst>
              <a:path w="8878250" h="5313870">
                <a:moveTo>
                  <a:pt x="0" y="0"/>
                </a:moveTo>
                <a:lnTo>
                  <a:pt x="8878250" y="0"/>
                </a:lnTo>
                <a:lnTo>
                  <a:pt x="8878250" y="5313870"/>
                </a:lnTo>
                <a:lnTo>
                  <a:pt x="0" y="5313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21402" y="3819652"/>
            <a:ext cx="5843192" cy="5253671"/>
          </a:xfrm>
          <a:custGeom>
            <a:avLst/>
            <a:gdLst/>
            <a:ahLst/>
            <a:cxnLst/>
            <a:rect l="l" t="t" r="r" b="b"/>
            <a:pathLst>
              <a:path w="5843192" h="5253671">
                <a:moveTo>
                  <a:pt x="0" y="0"/>
                </a:moveTo>
                <a:lnTo>
                  <a:pt x="5843192" y="0"/>
                </a:lnTo>
                <a:lnTo>
                  <a:pt x="5843192" y="5253671"/>
                </a:lnTo>
                <a:lnTo>
                  <a:pt x="0" y="52536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365237" y="2000377"/>
            <a:ext cx="13849554" cy="181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3"/>
              </a:lnSpc>
              <a:spcBef>
                <a:spcPct val="0"/>
              </a:spcBef>
            </a:pPr>
            <a:r>
              <a:rPr lang="en-US" sz="3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Insight: Identified high-performing products and peak sales periods. Detected imbalance in order statuses indicating potential operational bottlenecks.</a:t>
            </a:r>
          </a:p>
          <a:p>
            <a:pPr algn="l">
              <a:lnSpc>
                <a:spcPts val="1569"/>
              </a:lnSpc>
              <a:spcBef>
                <a:spcPct val="0"/>
              </a:spcBef>
            </a:pPr>
            <a:endParaRPr lang="en-US" sz="3511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med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365237" y="3505327"/>
            <a:ext cx="6612421" cy="3927234"/>
          </a:xfrm>
          <a:custGeom>
            <a:avLst/>
            <a:gdLst/>
            <a:ahLst/>
            <a:cxnLst/>
            <a:rect l="l" t="t" r="r" b="b"/>
            <a:pathLst>
              <a:path w="6612421" h="3927234">
                <a:moveTo>
                  <a:pt x="0" y="0"/>
                </a:moveTo>
                <a:lnTo>
                  <a:pt x="6612421" y="0"/>
                </a:lnTo>
                <a:lnTo>
                  <a:pt x="6612421" y="3927234"/>
                </a:lnTo>
                <a:lnTo>
                  <a:pt x="0" y="39272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8166934" y="3086227"/>
            <a:ext cx="9790700" cy="4834005"/>
          </a:xfrm>
          <a:custGeom>
            <a:avLst/>
            <a:gdLst/>
            <a:ahLst/>
            <a:cxnLst/>
            <a:rect l="l" t="t" r="r" b="b"/>
            <a:pathLst>
              <a:path w="9790700" h="4834005">
                <a:moveTo>
                  <a:pt x="0" y="0"/>
                </a:moveTo>
                <a:lnTo>
                  <a:pt x="9790699" y="0"/>
                </a:lnTo>
                <a:lnTo>
                  <a:pt x="9790699" y="4834005"/>
                </a:lnTo>
                <a:lnTo>
                  <a:pt x="0" y="48340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7746886"/>
            <a:ext cx="13849554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3"/>
              </a:lnSpc>
              <a:spcBef>
                <a:spcPct val="0"/>
              </a:spcBef>
            </a:pPr>
            <a:r>
              <a:rPr lang="en-US" sz="351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Explore product price distribution</a:t>
            </a:r>
          </a:p>
          <a:p>
            <a:pPr algn="l">
              <a:lnSpc>
                <a:spcPts val="1569"/>
              </a:lnSpc>
              <a:spcBef>
                <a:spcPct val="0"/>
              </a:spcBef>
            </a:pPr>
            <a:endParaRPr lang="en-US" sz="3511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338104" y="7746886"/>
            <a:ext cx="171486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Explore order trends over time</a:t>
            </a:r>
          </a:p>
        </p:txBody>
      </p:sp>
    </p:spTree>
  </p:cSld>
  <p:clrMapOvr>
    <a:masterClrMapping/>
  </p:clrMapOvr>
  <p:transition spd="med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38134" y="3495675"/>
            <a:ext cx="13673019" cy="340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43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Feature Engineering: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Created new variables such as: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days_as_customer: Days since a customer joined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order_month, order_day_of_week: Useful for identifying seasonality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customer_avg_order: Calculated per-customer order value trends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Repeat buyer flags and historical purchase metrics</a:t>
            </a:r>
          </a:p>
        </p:txBody>
      </p:sp>
    </p:spTree>
  </p:cSld>
  <p:clrMapOvr>
    <a:masterClrMapping/>
  </p:clrMapOvr>
  <p:transition spd="med"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000098" y="3287301"/>
            <a:ext cx="9945223" cy="5596600"/>
          </a:xfrm>
          <a:custGeom>
            <a:avLst/>
            <a:gdLst/>
            <a:ahLst/>
            <a:cxnLst/>
            <a:rect l="l" t="t" r="r" b="b"/>
            <a:pathLst>
              <a:path w="9945223" h="5596600">
                <a:moveTo>
                  <a:pt x="0" y="0"/>
                </a:moveTo>
                <a:lnTo>
                  <a:pt x="9945222" y="0"/>
                </a:lnTo>
                <a:lnTo>
                  <a:pt x="9945222" y="5596600"/>
                </a:lnTo>
                <a:lnTo>
                  <a:pt x="0" y="5596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160902" y="1567576"/>
            <a:ext cx="13563747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Insight: Time-based and customer-centric features significantly improved model accuracy and personalization capabilities.</a:t>
            </a:r>
          </a:p>
        </p:txBody>
      </p:sp>
    </p:spTree>
  </p:cSld>
  <p:clrMapOvr>
    <a:masterClrMapping/>
  </p:clrMapOvr>
  <p:transition spd="med">
    <p:wip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07233-E496-6FC7-2617-43D6A93A3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DC84D8-A52F-3C04-E0E3-C9428330AD3F}"/>
              </a:ext>
            </a:extLst>
          </p:cNvPr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BEA4688-6D58-A41A-5C7A-66F9A72C1F40}"/>
                </a:ext>
              </a:extLst>
            </p:cNvPr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AB43634-0250-30EF-C5F6-1CF00F0852C9}"/>
              </a:ext>
            </a:extLst>
          </p:cNvPr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75A48C1-C467-F977-D32A-E1A39E2BC2AD}"/>
                </a:ext>
              </a:extLst>
            </p:cNvPr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C5866E5F-898C-F0B8-3954-7707A47FBBAE}"/>
              </a:ext>
            </a:extLst>
          </p:cNvPr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8398FE2-C085-0E78-DA5E-C98FC86FB6AE}"/>
              </a:ext>
            </a:extLst>
          </p:cNvPr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A80EA7F8-591E-C6C6-D08E-1ACC675A8D85}"/>
              </a:ext>
            </a:extLst>
          </p:cNvPr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3492CB3-9BE2-B8AE-1875-6CF670C93578}"/>
              </a:ext>
            </a:extLst>
          </p:cNvPr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7DDCDC6-701C-D6CA-C544-514933C85F84}"/>
              </a:ext>
            </a:extLst>
          </p:cNvPr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790461E-88FC-FCE9-62A7-AD81BBD26FF8}"/>
              </a:ext>
            </a:extLst>
          </p:cNvPr>
          <p:cNvSpPr txBox="1"/>
          <p:nvPr/>
        </p:nvSpPr>
        <p:spPr>
          <a:xfrm>
            <a:off x="2362125" y="1653277"/>
            <a:ext cx="13563747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App Screen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046219-5B77-BD7E-BD73-1523F45486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518" y="2252523"/>
            <a:ext cx="14884963" cy="685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44584"/>
      </p:ext>
    </p:extLst>
  </p:cSld>
  <p:clrMapOvr>
    <a:masterClrMapping/>
  </p:clrMapOvr>
  <p:transition spd="med">
    <p:wip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38A99-CB3D-AACC-259E-AE8D6D30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5BB4DD-FC21-D875-AF59-DF2B57AAF3C2}"/>
              </a:ext>
            </a:extLst>
          </p:cNvPr>
          <p:cNvGrpSpPr/>
          <p:nvPr/>
        </p:nvGrpSpPr>
        <p:grpSpPr>
          <a:xfrm>
            <a:off x="569700" y="579600"/>
            <a:ext cx="17148600" cy="9127800"/>
            <a:chOff x="0" y="0"/>
            <a:chExt cx="22864800" cy="12170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CE91B9-F9F3-56CE-830A-D76D49B0017F}"/>
                </a:ext>
              </a:extLst>
            </p:cNvPr>
            <p:cNvSpPr/>
            <p:nvPr/>
          </p:nvSpPr>
          <p:spPr>
            <a:xfrm>
              <a:off x="0" y="0"/>
              <a:ext cx="22864826" cy="12170410"/>
            </a:xfrm>
            <a:custGeom>
              <a:avLst/>
              <a:gdLst/>
              <a:ahLst/>
              <a:cxnLst/>
              <a:rect l="l" t="t" r="r" b="b"/>
              <a:pathLst>
                <a:path w="22864826" h="12170410">
                  <a:moveTo>
                    <a:pt x="0" y="1004062"/>
                  </a:moveTo>
                  <a:cubicBezTo>
                    <a:pt x="0" y="449580"/>
                    <a:pt x="449580" y="0"/>
                    <a:pt x="1004062" y="0"/>
                  </a:cubicBezTo>
                  <a:lnTo>
                    <a:pt x="21860763" y="0"/>
                  </a:lnTo>
                  <a:cubicBezTo>
                    <a:pt x="22415246" y="0"/>
                    <a:pt x="22864826" y="449580"/>
                    <a:pt x="22864826" y="1004062"/>
                  </a:cubicBezTo>
                  <a:lnTo>
                    <a:pt x="22864826" y="11166348"/>
                  </a:lnTo>
                  <a:cubicBezTo>
                    <a:pt x="22864826" y="11720830"/>
                    <a:pt x="22415246" y="12170410"/>
                    <a:pt x="21860763" y="12170410"/>
                  </a:cubicBezTo>
                  <a:lnTo>
                    <a:pt x="1004062" y="12170410"/>
                  </a:lnTo>
                  <a:cubicBezTo>
                    <a:pt x="449580" y="12170410"/>
                    <a:pt x="0" y="11720830"/>
                    <a:pt x="0" y="111663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DFB2E19-6AD3-8BD5-2059-E7B66F9A4DB6}"/>
              </a:ext>
            </a:extLst>
          </p:cNvPr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C1800E-CA99-C3BA-5442-09C05D4DFFFE}"/>
                </a:ext>
              </a:extLst>
            </p:cNvPr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9ECCE11C-D40B-5048-23AD-966F092BD410}"/>
              </a:ext>
            </a:extLst>
          </p:cNvPr>
          <p:cNvSpPr/>
          <p:nvPr/>
        </p:nvSpPr>
        <p:spPr>
          <a:xfrm rot="115855">
            <a:off x="1579190" y="1069616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D3A1470-F953-9CF6-DD57-7DAAA45829C0}"/>
              </a:ext>
            </a:extLst>
          </p:cNvPr>
          <p:cNvSpPr/>
          <p:nvPr/>
        </p:nvSpPr>
        <p:spPr>
          <a:xfrm rot="115855">
            <a:off x="1579190" y="1255022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86FD502-9929-568C-D05A-E54793C78D82}"/>
              </a:ext>
            </a:extLst>
          </p:cNvPr>
          <p:cNvSpPr/>
          <p:nvPr/>
        </p:nvSpPr>
        <p:spPr>
          <a:xfrm rot="115855">
            <a:off x="1579190" y="1440430"/>
            <a:ext cx="565371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3C8277D-D995-A5A9-25A4-13C60DD5B079}"/>
              </a:ext>
            </a:extLst>
          </p:cNvPr>
          <p:cNvSpPr/>
          <p:nvPr/>
        </p:nvSpPr>
        <p:spPr>
          <a:xfrm>
            <a:off x="11258525" y="968727"/>
            <a:ext cx="4793850" cy="565050"/>
          </a:xfrm>
          <a:custGeom>
            <a:avLst/>
            <a:gdLst/>
            <a:ahLst/>
            <a:cxnLst/>
            <a:rect l="l" t="t" r="r" b="b"/>
            <a:pathLst>
              <a:path w="4793850" h="565050">
                <a:moveTo>
                  <a:pt x="0" y="0"/>
                </a:moveTo>
                <a:lnTo>
                  <a:pt x="4793850" y="0"/>
                </a:lnTo>
                <a:lnTo>
                  <a:pt x="47938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2EB33CB-2645-BEFF-319D-7AC2789AF271}"/>
              </a:ext>
            </a:extLst>
          </p:cNvPr>
          <p:cNvSpPr/>
          <p:nvPr/>
        </p:nvSpPr>
        <p:spPr>
          <a:xfrm>
            <a:off x="16203473" y="968727"/>
            <a:ext cx="565050" cy="565050"/>
          </a:xfrm>
          <a:custGeom>
            <a:avLst/>
            <a:gdLst/>
            <a:ahLst/>
            <a:cxnLst/>
            <a:rect l="l" t="t" r="r" b="b"/>
            <a:pathLst>
              <a:path w="565050" h="565050">
                <a:moveTo>
                  <a:pt x="0" y="0"/>
                </a:moveTo>
                <a:lnTo>
                  <a:pt x="565050" y="0"/>
                </a:lnTo>
                <a:lnTo>
                  <a:pt x="565050" y="565050"/>
                </a:lnTo>
                <a:lnTo>
                  <a:pt x="0" y="565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D3192CA-3FEC-4E37-540B-6FFA11AE80AD}"/>
              </a:ext>
            </a:extLst>
          </p:cNvPr>
          <p:cNvSpPr txBox="1"/>
          <p:nvPr/>
        </p:nvSpPr>
        <p:spPr>
          <a:xfrm>
            <a:off x="2362125" y="1653277"/>
            <a:ext cx="13563747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App Screen</a:t>
            </a:r>
          </a:p>
        </p:txBody>
      </p:sp>
      <p:pic>
        <p:nvPicPr>
          <p:cNvPr id="13" name="Picture 12" descr="A screenshot of a medical form&#10;&#10;AI-generated content may be incorrect.">
            <a:extLst>
              <a:ext uri="{FF2B5EF4-FFF2-40B4-BE49-F238E27FC236}">
                <a16:creationId xmlns:a16="http://schemas.microsoft.com/office/drawing/2014/main" id="{25C2C110-758A-1B02-C2E2-8C9D426E6F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218" y="2244040"/>
            <a:ext cx="15420582" cy="718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47776"/>
      </p:ext>
    </p:extLst>
  </p:cSld>
  <p:clrMapOvr>
    <a:masterClrMapping/>
  </p:clrMapOvr>
  <p:transition spd="med">
    <p:wip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5F020-2BAA-B045-BBCB-B1D33DAAB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D116783B-F07B-3953-D637-C4FA0754EDCC}"/>
              </a:ext>
            </a:extLst>
          </p:cNvPr>
          <p:cNvGrpSpPr/>
          <p:nvPr/>
        </p:nvGrpSpPr>
        <p:grpSpPr>
          <a:xfrm rot="5562018">
            <a:off x="15657647" y="2481235"/>
            <a:ext cx="6743516" cy="4247744"/>
            <a:chOff x="0" y="0"/>
            <a:chExt cx="8991355" cy="566365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F094270-8BD7-AE35-D042-D7A6442A5C7D}"/>
                </a:ext>
              </a:extLst>
            </p:cNvPr>
            <p:cNvSpPr/>
            <p:nvPr/>
          </p:nvSpPr>
          <p:spPr>
            <a:xfrm>
              <a:off x="0" y="0"/>
              <a:ext cx="8991346" cy="5663692"/>
            </a:xfrm>
            <a:custGeom>
              <a:avLst/>
              <a:gdLst/>
              <a:ahLst/>
              <a:cxnLst/>
              <a:rect l="l" t="t" r="r" b="b"/>
              <a:pathLst>
                <a:path w="8991346" h="5663692">
                  <a:moveTo>
                    <a:pt x="0" y="2831846"/>
                  </a:moveTo>
                  <a:cubicBezTo>
                    <a:pt x="0" y="1263142"/>
                    <a:pt x="2018665" y="0"/>
                    <a:pt x="4495673" y="0"/>
                  </a:cubicBezTo>
                  <a:cubicBezTo>
                    <a:pt x="6972681" y="0"/>
                    <a:pt x="8991346" y="1263142"/>
                    <a:pt x="8991346" y="2831846"/>
                  </a:cubicBezTo>
                  <a:lnTo>
                    <a:pt x="8978646" y="2831846"/>
                  </a:lnTo>
                  <a:lnTo>
                    <a:pt x="8991346" y="2831846"/>
                  </a:lnTo>
                  <a:cubicBezTo>
                    <a:pt x="8991346" y="4400550"/>
                    <a:pt x="6972681" y="5663692"/>
                    <a:pt x="4495673" y="5663692"/>
                  </a:cubicBezTo>
                  <a:lnTo>
                    <a:pt x="4495673" y="5650992"/>
                  </a:lnTo>
                  <a:lnTo>
                    <a:pt x="4495673" y="5663692"/>
                  </a:lnTo>
                  <a:cubicBezTo>
                    <a:pt x="2018665" y="5663692"/>
                    <a:pt x="0" y="4400550"/>
                    <a:pt x="0" y="2831846"/>
                  </a:cubicBezTo>
                  <a:lnTo>
                    <a:pt x="12700" y="2831846"/>
                  </a:lnTo>
                  <a:lnTo>
                    <a:pt x="25400" y="2831846"/>
                  </a:lnTo>
                  <a:lnTo>
                    <a:pt x="12700" y="2831846"/>
                  </a:lnTo>
                  <a:lnTo>
                    <a:pt x="0" y="2831846"/>
                  </a:lnTo>
                  <a:moveTo>
                    <a:pt x="25400" y="2831846"/>
                  </a:moveTo>
                  <a:cubicBezTo>
                    <a:pt x="25400" y="2838831"/>
                    <a:pt x="19685" y="2844546"/>
                    <a:pt x="12700" y="2844546"/>
                  </a:cubicBezTo>
                  <a:cubicBezTo>
                    <a:pt x="5715" y="2844546"/>
                    <a:pt x="0" y="2838831"/>
                    <a:pt x="0" y="2831846"/>
                  </a:cubicBezTo>
                  <a:cubicBezTo>
                    <a:pt x="0" y="2824861"/>
                    <a:pt x="5715" y="2819146"/>
                    <a:pt x="12700" y="2819146"/>
                  </a:cubicBezTo>
                  <a:cubicBezTo>
                    <a:pt x="19685" y="2819146"/>
                    <a:pt x="25400" y="2824861"/>
                    <a:pt x="25400" y="2831846"/>
                  </a:cubicBezTo>
                  <a:cubicBezTo>
                    <a:pt x="25400" y="4377055"/>
                    <a:pt x="2020951" y="5638292"/>
                    <a:pt x="4495673" y="5638292"/>
                  </a:cubicBezTo>
                  <a:cubicBezTo>
                    <a:pt x="6970395" y="5638292"/>
                    <a:pt x="8965946" y="4377055"/>
                    <a:pt x="8965946" y="2831846"/>
                  </a:cubicBezTo>
                  <a:cubicBezTo>
                    <a:pt x="8965946" y="1286637"/>
                    <a:pt x="6970522" y="25400"/>
                    <a:pt x="4495673" y="25400"/>
                  </a:cubicBezTo>
                  <a:lnTo>
                    <a:pt x="4495673" y="12700"/>
                  </a:lnTo>
                  <a:lnTo>
                    <a:pt x="4495673" y="25400"/>
                  </a:lnTo>
                  <a:cubicBezTo>
                    <a:pt x="2020951" y="25400"/>
                    <a:pt x="25400" y="1286637"/>
                    <a:pt x="25400" y="2831846"/>
                  </a:cubicBezTo>
                  <a:close/>
                </a:path>
              </a:pathLst>
            </a:custGeom>
            <a:solidFill>
              <a:srgbClr val="2F2FF4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3" descr="A person wearing sunglasses and a suit&#10;&#10;AI-generated content may be incorrect.">
            <a:extLst>
              <a:ext uri="{FF2B5EF4-FFF2-40B4-BE49-F238E27FC236}">
                <a16:creationId xmlns:a16="http://schemas.microsoft.com/office/drawing/2014/main" id="{F1013879-A001-493B-1DB6-7C3F51E6F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-160648"/>
            <a:ext cx="10515599" cy="1051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39584"/>
      </p:ext>
    </p:extLst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1627</Words>
  <Application>Microsoft Office PowerPoint</Application>
  <PresentationFormat>Custom</PresentationFormat>
  <Paragraphs>339</Paragraphs>
  <Slides>63</Slides>
  <Notes>63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Arimo</vt:lpstr>
      <vt:lpstr>Arial</vt:lpstr>
      <vt:lpstr>Arimo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e-commerce-pitch-deck.pptx</dc:title>
  <dc:creator>HP G4</dc:creator>
  <cp:lastModifiedBy>HEBA ADEL</cp:lastModifiedBy>
  <cp:revision>6</cp:revision>
  <dcterms:created xsi:type="dcterms:W3CDTF">2006-08-16T00:00:00Z</dcterms:created>
  <dcterms:modified xsi:type="dcterms:W3CDTF">2025-05-23T10:43:51Z</dcterms:modified>
  <dc:identifier>DAGn7Ch1uO0</dc:identifier>
</cp:coreProperties>
</file>